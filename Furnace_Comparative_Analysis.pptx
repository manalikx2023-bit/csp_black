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Fuel (Nm³/hr) — Current vs Saving Potential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Fuel</c:v>
                </c:pt>
              </c:strCache>
            </c:strRef>
          </c:tx>
          <c:spPr>
            <a:solidFill>
              <a:srgbClr val="1A6B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1783</c:v>
                  </c:pt>
                  <c:pt idx="1">
                    <c:v>1904</c:v>
                  </c:pt>
                  <c:pt idx="2">
                    <c:v>2023</c:v>
                  </c:pt>
                  <c:pt idx="3">
                    <c:v>2089</c:v>
                  </c:pt>
                  <c:pt idx="4">
                    <c:v>2354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40985</c:v>
                </c:pt>
                <c:pt idx="1">
                  <c:v>25805</c:v>
                </c:pt>
                <c:pt idx="2">
                  <c:v>21785</c:v>
                </c:pt>
                <c:pt idx="3">
                  <c:v>27006</c:v>
                </c:pt>
                <c:pt idx="4">
                  <c:v>4518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Potential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1783</c:v>
                  </c:pt>
                  <c:pt idx="1">
                    <c:v>1904</c:v>
                  </c:pt>
                  <c:pt idx="2">
                    <c:v>2023</c:v>
                  </c:pt>
                  <c:pt idx="3">
                    <c:v>2089</c:v>
                  </c:pt>
                  <c:pt idx="4">
                    <c:v>2354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3326</c:v>
                </c:pt>
                <c:pt idx="1">
                  <c:v>1697</c:v>
                </c:pt>
                <c:pt idx="2">
                  <c:v>824</c:v>
                </c:pt>
                <c:pt idx="3">
                  <c:v>3389</c:v>
                </c:pt>
                <c:pt idx="4">
                  <c:v>354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Mean FCE Deviation per Schedule (°C)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FCE Deviation (°C)</c:v>
                </c:pt>
              </c:strCache>
            </c:strRef>
          </c:tx>
          <c:spPr>
            <a:solidFill>
              <a:srgbClr val="1A6B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1783</c:v>
                  </c:pt>
                  <c:pt idx="1">
                    <c:v>1904</c:v>
                  </c:pt>
                  <c:pt idx="2">
                    <c:v>2023</c:v>
                  </c:pt>
                  <c:pt idx="3">
                    <c:v>2089</c:v>
                  </c:pt>
                  <c:pt idx="4">
                    <c:v>2354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5.9</c:v>
                </c:pt>
                <c:pt idx="1">
                  <c:v>1.4</c:v>
                </c:pt>
                <c:pt idx="2">
                  <c:v>-5.1</c:v>
                </c:pt>
                <c:pt idx="3">
                  <c:v>9.8</c:v>
                </c:pt>
                <c:pt idx="4">
                  <c:v>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2560320"/>
            <a:ext cx="438912" cy="1097280"/>
          </a:xfrm>
          <a:prstGeom prst="rect">
            <a:avLst/>
          </a:prstGeom>
          <a:solidFill>
            <a:srgbClr val="0A2744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0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779008" y="2537460"/>
            <a:ext cx="438912" cy="1143000"/>
          </a:xfrm>
          <a:prstGeom prst="rect">
            <a:avLst/>
          </a:prstGeom>
          <a:solidFill>
            <a:srgbClr val="0D3A6B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79008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254496" y="2514600"/>
            <a:ext cx="438912" cy="1188720"/>
          </a:xfrm>
          <a:prstGeom prst="rect">
            <a:avLst/>
          </a:prstGeom>
          <a:solidFill>
            <a:srgbClr val="B354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54496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6729984" y="2491740"/>
            <a:ext cx="438912" cy="1234440"/>
          </a:xfrm>
          <a:prstGeom prst="rect">
            <a:avLst/>
          </a:prstGeom>
          <a:solidFill>
            <a:srgbClr val="C44B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9984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205472" y="2468880"/>
            <a:ext cx="438912" cy="1280160"/>
          </a:xfrm>
          <a:prstGeom prst="rect">
            <a:avLst/>
          </a:prstGeom>
          <a:solidFill>
            <a:srgbClr val="8B1A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7680960" y="2446020"/>
            <a:ext cx="438912" cy="1325880"/>
          </a:xfrm>
          <a:prstGeom prst="rect">
            <a:avLst/>
          </a:prstGeom>
          <a:solidFill>
            <a:srgbClr val="7A15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156448" y="2423160"/>
            <a:ext cx="438912" cy="1371600"/>
          </a:xfrm>
          <a:prstGeom prst="rect">
            <a:avLst/>
          </a:prstGeom>
          <a:solidFill>
            <a:srgbClr val="6A11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56448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631936" y="2400300"/>
            <a:ext cx="438912" cy="1417320"/>
          </a:xfrm>
          <a:prstGeom prst="rect">
            <a:avLst/>
          </a:prstGeom>
          <a:solidFill>
            <a:srgbClr val="5A0D00">
              <a:alpha val="8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31936" y="32186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257800" y="2423160"/>
            <a:ext cx="384048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891B2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4107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→ Z1 to Z8  |  40 m Walking Beam  |  Hazira RHF-1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FURNACE SETPOINT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7472" y="64008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SETPOINT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47472" y="1188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47472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Schedule Analysis — Current State vs Target State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2468880"/>
            <a:ext cx="43891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5786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Hazira_Data_Assessment_filtered.csv + Process_parameter.xlsx  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" y="278892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2025 – Dec 2025   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 slabs + 4,344 hrs process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7472" y="29992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analysed: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representative production runs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749040"/>
            <a:ext cx="182880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47472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 Records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450592" y="3749040"/>
            <a:ext cx="182880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50592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450592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Hours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53712" y="3749040"/>
            <a:ext cx="182880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553712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56832" y="3749040"/>
            <a:ext cx="1828800" cy="7772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37947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656832" y="4233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Model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48463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 Steel Operations  ·  Confidential  ·  April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METHODOLOGY &amp; MODEL FRAMEWORK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0233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4023360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298448"/>
            <a:ext cx="36576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533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Process_parameter.xlsx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4,344 hourly records | Aug 2025 – Jan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72821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temps Z1–Z8, fuel (COREX + NG per zone), AFR, O₂, pressure, damper, chimney FGT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551176"/>
            <a:ext cx="36576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6060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Hazira_Data_Assess…csv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8072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30,731 slab records | Aug 2025 – Dec 2025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98094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Grade, thickness, width, entry temp, actual FCE dropout, target recipe, residence times per zone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3803904"/>
            <a:ext cx="365760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858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dataset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0599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 discharge hour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2336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slab matched to the hourly furnace conditions at its discharge time — giving true operating context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4251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777240"/>
            <a:ext cx="425196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THREE-MODEL ARCHITECTURE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36592" y="1261872"/>
            <a:ext cx="3931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1261872"/>
            <a:ext cx="54864" cy="1115568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316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30368" y="13167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Consumption Model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30368" y="15179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Fuel_i = intercept_i + slope_i × SP_i (all slopes +ive)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30368" y="17190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Calibrated: 3,960 hours | All 8 zones independent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30368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Slopes: Z1=25.8 · Z2=34.1 · Z3=38.6 (highest) · Z4=14.2 · Z5–Z8: 0.5–1.6 Nm³/hr per °C SP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36592" y="2496312"/>
            <a:ext cx="3931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496312"/>
            <a:ext cx="54864" cy="111556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25511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30368" y="255117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Dropout Prediction 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30368" y="27523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= 858.3 + Σ(fceCoeff_i × actual_i) + f(thick, entry, res, target)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30368" y="29535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R²=0.605 · MAE ±5.2°C · 30,655 slab records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230368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driver: recipe target (r=+0.669). Z3 zone: +0.08°C/°C. Coffin load: −8.2°C penalty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36592" y="3730752"/>
            <a:ext cx="393192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3730752"/>
            <a:ext cx="54864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7856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30368" y="37856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 Gas Temperature Model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30368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= 590.9 + Σ(FGT_Zi × actual_i) + f(O₂, Pressure, Damper, AFR)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230368" y="41879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R²=0.696 · MAE ±15.9°C · 3,955 hours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230368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lever: AFR +1 → FGT −18.8°C. Damper r=+0.72. Validates FGT improvement potential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" y="5047488"/>
            <a:ext cx="8503920" cy="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WEIGHTED AVERAGE TEMPERATURE: T_wt = Σ(zone_fuel_i × zone_actual_i) / Σ(zone_fuel_i) — weights preheat/heating zones by actual energy delivered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5-SCHEDULE PORTFOLIO — SUMMARY COMPARISON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8503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80160"/>
                <a:gridCol w="548640"/>
                <a:gridCol w="777240"/>
                <a:gridCol w="960120"/>
                <a:gridCol w="868680"/>
                <a:gridCol w="914400"/>
                <a:gridCol w="914400"/>
                <a:gridCol w="8229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/ Shift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Deviation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 Wt Avg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 Fuel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20251783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Oct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1265.8°C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20251904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Oct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1221.7°C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(6.6%)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Nov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1210.0°C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(3.8%)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UNDER-FIRED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20252089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Nov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1227.3°C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(12.5%)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OVER-FIRED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20252354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Dec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1191.3°C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(7.8%)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OVER-FIRED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320040" y="3337560"/>
          <a:ext cx="45720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983480" y="3337560"/>
          <a:ext cx="3840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20251783  |  03 Oct 2025  15:42  (Afternoon Shift)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mix: Multi-grade (ANCRMB6/ANIFS01/ANTRN series)  |  Thickness: 217–230 mm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777240"/>
                <a:gridCol w="347472"/>
                <a:gridCol w="475488"/>
                <a:gridCol w="530352"/>
                <a:gridCol w="548640"/>
                <a:gridCol w="411480"/>
                <a:gridCol w="47548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1231.7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ANIFS01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ANCRP09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1243.4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ANEDD02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ANTRN51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ANGEN02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ANIFS01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ANDRWB2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1236.8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+6.7°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1227.3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ANTRN33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1223.6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ANTRK65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1223.1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ANTRK65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1227.0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ANTRK65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1229.8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77724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777240"/>
            <a:ext cx="3794760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868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— CURRENT vs OPTIMAL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032581"/>
            <a:ext cx="310896" cy="1003227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189335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052175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21208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1242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632704" y="2053481"/>
            <a:ext cx="310896" cy="982327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2704" y="223636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209920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63270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3270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053328" y="1619794"/>
            <a:ext cx="310896" cy="1416014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172429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158713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05332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1321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5332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473952" y="1625019"/>
            <a:ext cx="310896" cy="1410789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70339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56623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473952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73952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894576" y="2016905"/>
            <a:ext cx="310896" cy="1018903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94576" y="2058706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192154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89457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1245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94576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315200" y="2022130"/>
            <a:ext cx="310896" cy="1013678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0" y="206393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192677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731520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31520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735824" y="2006455"/>
            <a:ext cx="310896" cy="1029353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35824" y="2048256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35824" y="191109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773582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3582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156448" y="2022130"/>
            <a:ext cx="310896" cy="1013678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56448" y="206393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56448" y="192677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815644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15644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166360" y="3145536"/>
            <a:ext cx="228600" cy="10972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40680" y="3136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 temp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995160" y="3182112"/>
            <a:ext cx="228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69480" y="31363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 → actual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029200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029200" y="3547872"/>
            <a:ext cx="91440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Weight Avg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1265.8°C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074920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2920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1238.4°C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029200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5980176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980176" y="3547872"/>
            <a:ext cx="9144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80176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980176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40,985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025896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80176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37,659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5980176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6931152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6931152" y="3547872"/>
            <a:ext cx="9144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31152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On-Target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6931152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6976872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31152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15/15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6931152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882128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7882128" y="3547872"/>
            <a:ext cx="914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82128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788212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+5.9°C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927848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882128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±2°C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7882128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320040" y="4663440"/>
            <a:ext cx="45262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11480" y="46908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14/15 slabs OVER-fired (avg +5.9°C). Z1/Z2 setpoints 1264°C vs optimal 1229–1234°C. ANGEN02 slab failed (−11.2°C) due to higher target 1240°C while furnace cooling during shift.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029200" y="4663440"/>
            <a:ext cx="37947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20640" y="46908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Reduce Z1/Z2 SP by 30–35°C. Reduce Z3/Z4 by 15–20°C. Compensate ANGEN02 slabs by raising Z7/Z8 SP.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20251904  |  18 Oct 2025  07:42  (Morning Shift)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ON-TARGET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mix: ANCRMB6 / ANEDD04 / ANGEN15 / ANLNP41 / ANWTPT3  |  Thickness: 210–230 mm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777240"/>
                <a:gridCol w="347472"/>
                <a:gridCol w="475488"/>
                <a:gridCol w="530352"/>
                <a:gridCol w="548640"/>
                <a:gridCol w="411480"/>
                <a:gridCol w="47548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1227.5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-2.7°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ANEDD04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ANGEN15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ANGEN15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1247.0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1248.9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1248.1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1244.8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ANLNP41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ANWTPT3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77724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777240"/>
            <a:ext cx="3794760" cy="54864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868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— CURRENT vs OPTIMAL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387890"/>
            <a:ext cx="310896" cy="64791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492393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35523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21208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1174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632704" y="2492393"/>
            <a:ext cx="310896" cy="543415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2704" y="262302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248586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63270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3270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053328" y="1625019"/>
            <a:ext cx="310896" cy="1410789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170339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156623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05332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1320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5332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473952" y="1630245"/>
            <a:ext cx="310896" cy="1405563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682496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54533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473952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1319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73952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894576" y="2053481"/>
            <a:ext cx="310896" cy="982327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94576" y="207960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194244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89457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94576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315200" y="2043031"/>
            <a:ext cx="310896" cy="992777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0" y="206915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193199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731520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31520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735824" y="2137083"/>
            <a:ext cx="310896" cy="898725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35824" y="2163209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35824" y="2026049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773582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1222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3582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156448" y="2142309"/>
            <a:ext cx="310896" cy="893499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56448" y="2168434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56448" y="203127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815644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15644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166360" y="3145536"/>
            <a:ext cx="228600" cy="10972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40680" y="3136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 temp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995160" y="3182112"/>
            <a:ext cx="228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69480" y="31363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 → actual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029200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029200" y="3547872"/>
            <a:ext cx="91440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Weight Avg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1221.7°C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074920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2920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1203.5°C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029200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5980176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980176" y="3547872"/>
            <a:ext cx="9144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80176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980176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25,805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025896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80176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24,108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5980176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6931152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6931152" y="3547872"/>
            <a:ext cx="9144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31152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On-Target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6931152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6976872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31152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11/11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6931152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882128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7882128" y="3547872"/>
            <a:ext cx="914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82128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788212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+1.4°C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927848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882128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±2°C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7882128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320040" y="4663440"/>
            <a:ext cx="45262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11480" y="46908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2 ANLNP41 slabs failed (entry temp 64–85°C, target 1245°C). Cold-entry slabs need zone compensation — Z7/Z8 SP insufficient at 1235°C. O₂ high at 6.8% → excess air waste.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029200" y="4663440"/>
            <a:ext cx="37947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20640" y="46908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Raise Z7/Z8 SP to 1245°C for ANLNP41 cold-entry slabs. Reduce AFR to 11.5, lower O₂ to ≤5% to save combustion air. Reduce Z1/Z2 SP 20–25°C.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20252023  |  06 Nov 2025  21:25  (Night Shift)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UNDER-FIRED — QUALITY 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mix: ANCRMB2 / ANTRNT5 / ANGEN02 / ANSCG27 / ANCRMB6  |  Thickness: 217–230 mm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777240"/>
                <a:gridCol w="347472"/>
                <a:gridCol w="475488"/>
                <a:gridCol w="530352"/>
                <a:gridCol w="548640"/>
                <a:gridCol w="411480"/>
                <a:gridCol w="47548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ANTRNT5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ANTRNT5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ANTRNT5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ANTRNT5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ANTRNT5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+10.6°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ANGEN02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ANGENT6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1232.8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ANSCG27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1209.8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ANSCG27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1207.0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-25.6°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1208.5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-21.7°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1214.4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✕ FAIL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77724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777240"/>
            <a:ext cx="379476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868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— CURRENT vs OPTIMAL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184110"/>
            <a:ext cx="310896" cy="85169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26248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12532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21208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1213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632704" y="2319963"/>
            <a:ext cx="310896" cy="715845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2704" y="239834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226118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63270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1187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3270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053328" y="1943753"/>
            <a:ext cx="310896" cy="1092055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1969879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1832719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05332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1259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5332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473952" y="2063931"/>
            <a:ext cx="310896" cy="971877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209005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95289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473952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1236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73952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894576" y="2074382"/>
            <a:ext cx="310896" cy="961426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94576" y="207438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894576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7315200" y="2095282"/>
            <a:ext cx="310896" cy="940526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209528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1520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1230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31520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8" name="Shape 35"/>
          <p:cNvSpPr/>
          <p:nvPr/>
        </p:nvSpPr>
        <p:spPr>
          <a:xfrm>
            <a:off x="7735824" y="2058706"/>
            <a:ext cx="310896" cy="977102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35824" y="2058706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3582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73582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8156448" y="2168434"/>
            <a:ext cx="310896" cy="867374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156448" y="2168434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5644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1216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815644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650" dirty="0"/>
          </a:p>
        </p:txBody>
      </p:sp>
      <p:sp>
        <p:nvSpPr>
          <p:cNvPr id="46" name="Shape 43"/>
          <p:cNvSpPr/>
          <p:nvPr/>
        </p:nvSpPr>
        <p:spPr>
          <a:xfrm>
            <a:off x="5166360" y="3145536"/>
            <a:ext cx="228600" cy="10972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40680" y="3136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 temp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995160" y="3182112"/>
            <a:ext cx="228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269480" y="31363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 → actual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029200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029200" y="3547872"/>
            <a:ext cx="91440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02920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Weight Avg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1210.0°C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5074920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2920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1198.2°C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5029200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5980176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5980176" y="3547872"/>
            <a:ext cx="9144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80176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5980176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21,785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6025896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980176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20,961</a:t>
            </a:r>
            <a:endParaRPr lang="en-US" sz="1300" dirty="0"/>
          </a:p>
        </p:txBody>
      </p:sp>
      <p:sp>
        <p:nvSpPr>
          <p:cNvPr id="63" name="Text 60"/>
          <p:cNvSpPr/>
          <p:nvPr/>
        </p:nvSpPr>
        <p:spPr>
          <a:xfrm>
            <a:off x="5980176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6931152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6931152" y="3547872"/>
            <a:ext cx="9144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6931152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On-Target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6931152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8/14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6976872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31152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13/14</a:t>
            </a:r>
            <a:endParaRPr lang="en-US" sz="1300" dirty="0"/>
          </a:p>
        </p:txBody>
      </p:sp>
      <p:sp>
        <p:nvSpPr>
          <p:cNvPr id="70" name="Text 67"/>
          <p:cNvSpPr/>
          <p:nvPr/>
        </p:nvSpPr>
        <p:spPr>
          <a:xfrm>
            <a:off x="6931152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1" name="Shape 68"/>
          <p:cNvSpPr/>
          <p:nvPr/>
        </p:nvSpPr>
        <p:spPr>
          <a:xfrm>
            <a:off x="7882128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2" name="Shape 69"/>
          <p:cNvSpPr/>
          <p:nvPr/>
        </p:nvSpPr>
        <p:spPr>
          <a:xfrm>
            <a:off x="7882128" y="3547872"/>
            <a:ext cx="914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7882128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788212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-5.1°C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7927848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882128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±2°C</a:t>
            </a:r>
            <a:endParaRPr lang="en-US" sz="1300" dirty="0"/>
          </a:p>
        </p:txBody>
      </p:sp>
      <p:sp>
        <p:nvSpPr>
          <p:cNvPr id="77" name="Text 74"/>
          <p:cNvSpPr/>
          <p:nvPr/>
        </p:nvSpPr>
        <p:spPr>
          <a:xfrm>
            <a:off x="7882128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320040" y="4663440"/>
            <a:ext cx="452628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11480" y="46908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WORST SCHEDULE: 5 slabs SEVERELY under-fired (−16 to −26°C). ANSCG27 and thick ANCRMB2 (230mm) slabs failed catastrophically. Z3/Z4 SPs were too low (1259/1236°C). Residence time very long (71 min heating) but zone temp was still insufficient.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5029200" y="4663440"/>
            <a:ext cx="37947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120640" y="46908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RAISE Z3 SP to minimum 1290°C for thick 230mm slabs. Reduce residence time in preheat (160 min excess). Grade mix change needed — 230mm slabs require separate setpoints.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20252089  |  16 Nov 2025  13:18  (Afternoon Shift)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mix: ANCRMB6 / ANEDG02 / ANEDD02 / ANTRW04 / ANTRS65  |  Thickness: 210–220 mm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777240"/>
                <a:gridCol w="347472"/>
                <a:gridCol w="475488"/>
                <a:gridCol w="530352"/>
                <a:gridCol w="548640"/>
                <a:gridCol w="411480"/>
                <a:gridCol w="47548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ANEDG02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ANEDD02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ANEDD02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1237.4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ANEDD02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+13.6°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1231.6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ANTRW04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ANTRN37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ANTRS65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1221.3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ANTRS65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ANTRS65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1224.2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77724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777240"/>
            <a:ext cx="379476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868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— CURRENT vs OPTIMAL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110958"/>
            <a:ext cx="310896" cy="924850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319963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18280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21208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632704" y="2220686"/>
            <a:ext cx="310896" cy="815122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2704" y="245581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231865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63270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1206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3270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053328" y="1881051"/>
            <a:ext cx="310896" cy="1154757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2037806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1900646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05332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1271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5332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473952" y="1969879"/>
            <a:ext cx="310896" cy="1065929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207438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93722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473952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73952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894576" y="2032581"/>
            <a:ext cx="310896" cy="1003227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94576" y="209528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195812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89457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1242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94576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315200" y="2022130"/>
            <a:ext cx="310896" cy="1013678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0" y="208483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194767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731520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1244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31520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735824" y="2053481"/>
            <a:ext cx="310896" cy="982327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35824" y="2116183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35824" y="197902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773582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3582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156448" y="2058706"/>
            <a:ext cx="310896" cy="977102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56448" y="2121408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56448" y="198424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815644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15644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166360" y="3145536"/>
            <a:ext cx="228600" cy="10972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40680" y="3136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 temp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995160" y="3182112"/>
            <a:ext cx="228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69480" y="31363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 → actual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029200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029200" y="3547872"/>
            <a:ext cx="91440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Weight Avg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1227.3°C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074920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2920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1189.7°C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029200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5980176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980176" y="3547872"/>
            <a:ext cx="9144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80176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980176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27,006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025896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80176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23,617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5980176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6931152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6931152" y="3547872"/>
            <a:ext cx="9144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31152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On-Target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6931152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6976872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31152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13/13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6931152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882128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7882128" y="3547872"/>
            <a:ext cx="914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82128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788212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+9.8°C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927848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882128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±2°C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7882128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320040" y="4663440"/>
            <a:ext cx="45262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11480" y="46908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BEST QUALITY, WORST ENERGY: 13/13 on-target but mean deviation +9.8°C — furnace massively over-fired. Pre-heating residence 239 min (almost 4 hours!). Z1/Z2 SP 1249/1232°C can be reduced by 40–45°C. Largest single saving opportunity.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029200" y="4663440"/>
            <a:ext cx="37947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20640" y="46908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Reduce Z1/Z2 SP by 40–45°C, Z3/Z4 by 20–30°C. Review and reduce preheat residence time from 239 min to ≤140 min. This schedule has the highest saving potential: 3,389 Nm³/hr.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20252354  |  24 Dec 2025  08:17  (Morning Shift)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mix: ANCRMB2 / ANTRG55 / ANTRG13  |  Thickness: 217 mm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777240"/>
                <a:gridCol w="347472"/>
                <a:gridCol w="475488"/>
                <a:gridCol w="530352"/>
                <a:gridCol w="548640"/>
                <a:gridCol w="411480"/>
                <a:gridCol w="475488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Target°C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ANCRMB2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1236.1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ANTRG55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1233.1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+13.0°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ANTRG55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1229.3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ANTRG55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1226.3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ANTRG13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ANTRG13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1217.2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-2.9°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777240"/>
            <a:ext cx="3794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777240"/>
            <a:ext cx="3794760" cy="54864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66360" y="868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TEMPERATURE — CURRENT vs OPTIMAL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508069"/>
            <a:ext cx="310896" cy="527739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2080" y="2664823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2527663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21208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1151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21208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5632704" y="2973106"/>
            <a:ext cx="310896" cy="62702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32704" y="3035808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32704" y="289864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63270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63270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6053328" y="1651145"/>
            <a:ext cx="310896" cy="1384663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1755648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161848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05332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1315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05332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473952" y="1651145"/>
            <a:ext cx="310896" cy="1384663"/>
          </a:xfrm>
          <a:prstGeom prst="rect">
            <a:avLst/>
          </a:prstGeom>
          <a:solidFill>
            <a:srgbClr val="C2410C">
              <a:alpha val="55000"/>
            </a:srgbClr>
          </a:solidFill>
          <a:ln w="12700">
            <a:solidFill>
              <a:srgbClr val="C2410C">
                <a:alpha val="4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73952" y="1729522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3952" y="1592362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6473952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1315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473952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Z4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894576" y="2058706"/>
            <a:ext cx="310896" cy="977102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94576" y="210050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94576" y="196334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894576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894576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Z5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7315200" y="2173659"/>
            <a:ext cx="310896" cy="862149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0" y="221546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315200" y="207830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7315200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7315200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Z6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7735824" y="2058706"/>
            <a:ext cx="310896" cy="977102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735824" y="2100507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35824" y="1963347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7735824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7735824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Z7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156448" y="2173659"/>
            <a:ext cx="310896" cy="862149"/>
          </a:xfrm>
          <a:prstGeom prst="rect">
            <a:avLst/>
          </a:prstGeom>
          <a:solidFill>
            <a:srgbClr val="DC2626">
              <a:alpha val="5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56448" y="2215461"/>
            <a:ext cx="31089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156448" y="2078301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8156448" y="305409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1215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156448" y="321868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Z8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5166360" y="3145536"/>
            <a:ext cx="228600" cy="109728"/>
          </a:xfrm>
          <a:prstGeom prst="rect">
            <a:avLst/>
          </a:prstGeom>
          <a:solidFill>
            <a:srgbClr val="1A6BBF">
              <a:alpha val="55000"/>
            </a:srgbClr>
          </a:solidFill>
          <a:ln w="12700">
            <a:solidFill>
              <a:srgbClr val="1A6BBF">
                <a:alpha val="4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40680" y="3136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actual temp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995160" y="3182112"/>
            <a:ext cx="2286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269480" y="31363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SP → actual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029200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029200" y="3547872"/>
            <a:ext cx="91440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029200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Weight Avg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5029200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1191.3°C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5074920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29200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1172.0°C</a:t>
            </a:r>
            <a:endParaRPr lang="en-US" sz="1300" dirty="0"/>
          </a:p>
        </p:txBody>
      </p:sp>
      <p:sp>
        <p:nvSpPr>
          <p:cNvPr id="60" name="Text 57"/>
          <p:cNvSpPr/>
          <p:nvPr/>
        </p:nvSpPr>
        <p:spPr>
          <a:xfrm>
            <a:off x="5029200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5980176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5980176" y="3547872"/>
            <a:ext cx="9144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80176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Fuel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5980176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4,518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025896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80176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4,164</a:t>
            </a:r>
            <a:endParaRPr lang="en-US" sz="1300" dirty="0"/>
          </a:p>
        </p:txBody>
      </p:sp>
      <p:sp>
        <p:nvSpPr>
          <p:cNvPr id="67" name="Text 64"/>
          <p:cNvSpPr/>
          <p:nvPr/>
        </p:nvSpPr>
        <p:spPr>
          <a:xfrm>
            <a:off x="5980176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6931152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6931152" y="3547872"/>
            <a:ext cx="9144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931152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FCE On-Target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6931152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6976872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31152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6/6</a:t>
            </a:r>
            <a:endParaRPr lang="en-US" sz="1300" dirty="0"/>
          </a:p>
        </p:txBody>
      </p:sp>
      <p:sp>
        <p:nvSpPr>
          <p:cNvPr id="74" name="Text 71"/>
          <p:cNvSpPr/>
          <p:nvPr/>
        </p:nvSpPr>
        <p:spPr>
          <a:xfrm>
            <a:off x="6931152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75" name="Shape 72"/>
          <p:cNvSpPr/>
          <p:nvPr/>
        </p:nvSpPr>
        <p:spPr>
          <a:xfrm>
            <a:off x="7882128" y="3547872"/>
            <a:ext cx="914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7882128" y="3547872"/>
            <a:ext cx="9144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82128" y="359359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FCE Dev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7882128" y="37673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+5.6°C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927848" y="4059936"/>
            <a:ext cx="822960" cy="1828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882128" y="4087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±2°C</a:t>
            </a:r>
            <a:endParaRPr lang="en-US" sz="1300" dirty="0"/>
          </a:p>
        </p:txBody>
      </p:sp>
      <p:sp>
        <p:nvSpPr>
          <p:cNvPr id="81" name="Text 78"/>
          <p:cNvSpPr/>
          <p:nvPr/>
        </p:nvSpPr>
        <p:spPr>
          <a:xfrm>
            <a:off x="7882128" y="4370832"/>
            <a:ext cx="914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320040" y="4663440"/>
            <a:ext cx="4526280" cy="411480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11480" y="46908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Small 6-slab schedule, all on-target. AFR 15.02 (very lean — good combustion). Low furnace load: Z1/Z2 actual only 1151/1062°C but setpoints 1173/1088°C. ANTRG13 last slab borderline (−2.9°C) — residual risk if cooling trend continues.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5029200" y="4663440"/>
            <a:ext cx="3794760" cy="4114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20640" y="469087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Reduce Z3/Z4 SP by 15–20°C. Maintain AFR at 14–15 (already efficient). Monitor last-slab temperature drop — schedule more slabs or reduce gaps between schedules.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SEQUENCE — HOW THE MODEL ACTS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251960" cy="36576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04672"/>
            <a:ext cx="502920" cy="1261872"/>
          </a:xfrm>
          <a:prstGeom prst="rect">
            <a:avLst/>
          </a:prstGeom>
          <a:solidFill>
            <a:srgbClr val="0F4C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38328" y="1261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38328" y="1490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 min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86968" y="859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Schedule + Actual Zone Conditions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86968" y="115214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slab discharge timestamps to hourly process records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fuel-weighted zone avg temperature per schedule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over/under-firing per slab (FCE vs target recipe)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6020" y="2066544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19456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425196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94560"/>
            <a:ext cx="502920" cy="1261872"/>
          </a:xfrm>
          <a:prstGeom prst="rect">
            <a:avLst/>
          </a:prstGeom>
          <a:solidFill>
            <a:srgbClr val="C2410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8328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T+0.5 min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86968" y="22494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FCE Dropout Prediction (M2)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6968" y="25420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FCE for every slab using zone actuals + slab parameters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slabs where predicted FCE &lt; target − 3°C (at risk)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cold-entry slabs (entry &lt; 140°C) needing compensation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46020" y="3456432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844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84448"/>
            <a:ext cx="425196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584448"/>
            <a:ext cx="502920" cy="1261872"/>
          </a:xfrm>
          <a:prstGeom prst="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8328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8328" y="4270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min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86968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Engine — Minimise Fuel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6968" y="3931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Z1/Z2 SP first (largest fuel contributors: 43% + 23%)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down Z3/Z4 SP by smaller amounts (protect FCE quality)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all predicted FCE ≥ target − 3°C before confirming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80467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804672"/>
            <a:ext cx="425196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804672"/>
            <a:ext cx="502920" cy="1261872"/>
          </a:xfrm>
          <a:prstGeom prst="rect">
            <a:avLst/>
          </a:prstGeom>
          <a:solidFill>
            <a:srgbClr val="B4530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64024" y="850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73168" y="1261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73168" y="1490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 min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321808" y="8595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Compensation for Cold Slabs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21808" y="1152144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Cold slabs (entry &lt; 140°C) flagged: FCE deficit = 0.002328 × (167 − entry)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Z3 best compensator: +1°C SP recovers 0.08°C FCE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Z7/Z8 secondary: model specifies exact SP increase needed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80860" y="2066544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19456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194560"/>
            <a:ext cx="425196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2194560"/>
            <a:ext cx="502920" cy="1261872"/>
          </a:xfrm>
          <a:prstGeom prst="rect">
            <a:avLst/>
          </a:prstGeom>
          <a:solidFill>
            <a:srgbClr val="16A34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64024" y="2240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773168" y="2651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73168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min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321808" y="224942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FGT Check (M3) + Fuel Saving Confirmation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321808" y="2542032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 new chimney FGT at optimised SP — must remain &lt; 460°C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 total fuel saving: Σ(slope_i × ΔSP_i) per zone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SP recommendations + saving Nm³/hr + FGT status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880860" y="3456432"/>
            <a:ext cx="0" cy="128016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584448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3584448"/>
            <a:ext cx="425196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584448"/>
            <a:ext cx="502920" cy="1261872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36301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773168" y="40416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773168" y="42702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T+3 min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321808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Applies — Shift Report Generated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5321808" y="39319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Apply Optimal — all 8 SPs updated simultaneously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report: KPI comparison, zone grid, compensation status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Estimated saving at ₹18/Nm³: quantified per schedule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RESULTS — CURRENT STATE vs TARGET STATE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1600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50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120,099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Nm³/hr total current fuel (5 schedules)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57400" y="777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777240"/>
            <a:ext cx="1600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850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11155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Nm³/hr saving potential identified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94760" y="777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94760" y="777240"/>
            <a:ext cx="16002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850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11155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9476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fuel reduction across schedules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532120" y="777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32120" y="777240"/>
            <a:ext cx="1600200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850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◎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11155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 on-target current state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69480" y="777240"/>
            <a:ext cx="1600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69480" y="777240"/>
            <a:ext cx="1600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850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1115568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69480" y="143560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slabs failed FCE target (below −8°C)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01952"/>
          <a:ext cx="8503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58368"/>
                <a:gridCol w="365760"/>
                <a:gridCol w="841248"/>
                <a:gridCol w="841248"/>
                <a:gridCol w="749808"/>
                <a:gridCol w="566928"/>
                <a:gridCol w="777240"/>
                <a:gridCol w="777240"/>
                <a:gridCol w="640080"/>
                <a:gridCol w="640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 Fuel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Opt Fuel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 Wt 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Opt Wt 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FCE Dev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On-Tgt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Oct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40,985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37,659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1265.8°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1238.4°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+5.9°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25,805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1221.7°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1203.5°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9/11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Nov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21,785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20,961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1210.0°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1198.2°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-5.1°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Nov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23,617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1227.3°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1189.7°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+9.8°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4C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Dec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1191.3°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1172.0°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120,099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110,509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50/59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20040" y="4133088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0040" y="4133088"/>
            <a:ext cx="2743200" cy="3657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9768" y="4187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Over-firing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29768" y="4416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1783 (+5.9°C) and 2089 (+9.8°C): Operator SPs set 30–45°C above model optimum. Z1/Z2 primary culprit.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246120" y="4133088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46120" y="4133088"/>
            <a:ext cx="274320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355848" y="4187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 Under-heating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3355848" y="4416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2023 (−5.1°C): 5 slabs severely failed. Z3/Z4 SPs too low for thick 230mm grades + grade mix without SP segmentation.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172200" y="4133088"/>
            <a:ext cx="2743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172200" y="4133088"/>
            <a:ext cx="27432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81928" y="4187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Cold slab entry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281928" y="4416552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 1904: ANLNP41 with 64–85°C entry temp failed −9.5 to −10.3°C. No zone compensation applied.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832104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2410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54864" cy="6858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3327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005840" y="1042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Over-firing is the dominant issue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29844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5 schedules over-fired: avg excess +7.1°C. All on-target but burning 8–12.5% more fuel than needed. Largest opportunity: Schedule 2089 — 3,389 Nm³/hr saving with zero quality risk.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1810512"/>
            <a:ext cx="8321040" cy="685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10512"/>
            <a:ext cx="54864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379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21396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005840" y="1847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Grade-mix without SP segmentation causes failures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1031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2023: thick 230mm ANCRMB2/ANSCG27 slabs failed badly (−16 to −26°C) while thinner slabs were fine on same SP. Model must recommend different Z3/Z4 SPs by grade group.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615184"/>
            <a:ext cx="8321040" cy="685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615184"/>
            <a:ext cx="54864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4261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2944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005840" y="26517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Cold-entry compensation not being applied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0779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1904: ANLNP41 slabs with 64–85°C entry temp failed despite adequate zone temps. Downstream zone compensation (Z7/Z8 +15–20°C) would have fully recovered FCE.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3419856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419856"/>
            <a:ext cx="54864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4472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37490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100584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advisory model for every shift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71246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optimiser at shift start: input 8-slab queue + zone temps → receive optimal SP within 2 min. Expected saving: 3,000–5,000 Nm³/hr per schedule · ~₹54k–₹90k per shift.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224528"/>
            <a:ext cx="8321040" cy="6858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224528"/>
            <a:ext cx="54864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519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455371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005840" y="4261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fuel-weighted zone avg as daily KPI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451713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practice ignores fuel distribution. Fuel-weighted avg temp shows true thermal delivery. Target: maintain &lt;1,240°C weighted avg. Schedule 2089 was 1,227°C — achievable at 1,190°C.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30,731 slab records + 4,344 hrs process data · Hazira RHF-1 · Aug–Dec 2025 · Model: FCE R²=0.605 · FGT R²=0.696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Furnace Optimisation — Comparative Schedule Analysis</dc:title>
  <dc:subject>PptxGenJS Presentation</dc:subject>
  <dc:creator>Hazira Steel Operations</dc:creator>
  <cp:lastModifiedBy>Hazira Steel Operations</cp:lastModifiedBy>
  <cp:revision>1</cp:revision>
  <dcterms:created xsi:type="dcterms:W3CDTF">2026-04-01T10:55:57Z</dcterms:created>
  <dcterms:modified xsi:type="dcterms:W3CDTF">2026-04-01T10:55:57Z</dcterms:modified>
</cp:coreProperties>
</file>