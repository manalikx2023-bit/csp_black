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74920" y="1097280"/>
            <a:ext cx="420624" cy="1097280"/>
          </a:xfrm>
          <a:prstGeom prst="rect">
            <a:avLst/>
          </a:prstGeom>
          <a:solidFill>
            <a:srgbClr val="1A3A6B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50408" y="1051560"/>
            <a:ext cx="420624" cy="1188720"/>
          </a:xfrm>
          <a:prstGeom prst="rect">
            <a:avLst/>
          </a:prstGeom>
          <a:solidFill>
            <a:srgbClr val="1A3A6B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25896" y="822960"/>
            <a:ext cx="420624" cy="1645920"/>
          </a:xfrm>
          <a:prstGeom prst="rect">
            <a:avLst/>
          </a:prstGeom>
          <a:solidFill>
            <a:srgbClr val="8B3A00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01384" y="845820"/>
            <a:ext cx="420624" cy="1600200"/>
          </a:xfrm>
          <a:prstGeom prst="rect">
            <a:avLst/>
          </a:prstGeom>
          <a:solidFill>
            <a:srgbClr val="8B3A00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76872" y="1005840"/>
            <a:ext cx="420624" cy="1280160"/>
          </a:xfrm>
          <a:prstGeom prst="rect">
            <a:avLst/>
          </a:prstGeom>
          <a:solidFill>
            <a:srgbClr val="7A1200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2360" y="1014984"/>
            <a:ext cx="420624" cy="1261872"/>
          </a:xfrm>
          <a:prstGeom prst="rect">
            <a:avLst/>
          </a:prstGeom>
          <a:solidFill>
            <a:srgbClr val="6A1000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27848" y="1024128"/>
            <a:ext cx="420624" cy="1243584"/>
          </a:xfrm>
          <a:prstGeom prst="rect">
            <a:avLst/>
          </a:prstGeom>
          <a:solidFill>
            <a:srgbClr val="5A0E00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03336" y="1042416"/>
            <a:ext cx="420624" cy="1207008"/>
          </a:xfrm>
          <a:prstGeom prst="rect">
            <a:avLst/>
          </a:prstGeom>
          <a:solidFill>
            <a:srgbClr val="4A0C00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868680"/>
            <a:ext cx="3886200" cy="166420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8288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550408" y="18288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025896" y="18288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501384" y="18288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976872" y="18288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452360" y="18288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927848" y="18288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403336" y="18288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47488" y="2011680"/>
            <a:ext cx="3858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ENTRY  ·  WALKING BEAM FURNACE  ·  DISCHARGE →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5760" y="5943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FURNACE SETPOINT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365760" y="11430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MODEL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365760" y="181051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vs AI-Optimised Target State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21762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Problem Is  ·  How the AI Model Solves It  ·  Process Schematic  ·  3 Real Schedules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578608"/>
            <a:ext cx="43891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6791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Plant: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 RHF-1 Walking Beam Furnace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28986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30,731 slabs + 4,344 hrs process records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311810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2025 – Dec 2025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Schedules: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real production runs analysed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730752"/>
            <a:ext cx="109728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307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— 03 Oct · Over-fired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986784"/>
            <a:ext cx="10972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98678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06 Nov · Under-fired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242816"/>
            <a:ext cx="109728" cy="164592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242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16 Nov · Quality risk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864608"/>
            <a:ext cx="8412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 Steel Operations  ·  April 2026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WHY FURNACE OPERATION IS SUBOPTIMAL TODAY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without AI-driven setpoint optimisation — root causes from actual operational data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86384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furnace setpoints are set by operator experience — there is no real-time model to predict FCE dropout, no fuel optimisation engine, and no zone compensation logic.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335024"/>
            <a:ext cx="43159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35024"/>
            <a:ext cx="64008" cy="11155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3716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3898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Setpoints set by intuition, not 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1627632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set zone SPs based on experience and general rules. No model predicts what FCE dropout temperature each slab will actually achieve with current SP. Schedules run at +5 to +10°C over recipe — wasting 8–18% fuel every shift.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30168" y="1389888"/>
            <a:ext cx="932688" cy="457200"/>
          </a:xfrm>
          <a:prstGeom prst="rect">
            <a:avLst/>
          </a:prstGeom>
          <a:solidFill>
            <a:srgbClr val="C2410C">
              <a:alpha val="12000"/>
            </a:srgbClr>
          </a:solidFill>
          <a:ln w="12700">
            <a:solidFill>
              <a:srgbClr val="C2410C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140817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40,985 Nm³/hr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30168" y="164592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fuel S1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2569464"/>
            <a:ext cx="43159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69464"/>
            <a:ext cx="64008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260604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624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Quality failures discovered after discharge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2862072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FCE prediction, operators only know a slab underheated AFTER it exits the furnace — too late to correct. S2 (Nov 2025): 5/14 slabs at −16 to −26°C below target. Rolling mill stoppage risk, rework cost, yield loss.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30168" y="2624328"/>
            <a:ext cx="932688" cy="457200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264261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5/14 slabs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30168" y="28803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in S2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0040" y="3803904"/>
            <a:ext cx="43159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803904"/>
            <a:ext cx="64008" cy="11155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38404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38587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No zone compensation for cold-entry slabs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2960" y="4096512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slab enters the furnace cold (&lt;140°C), it needs extra thermal energy from downstream zones. Currently no logic exists to automatically compensate Z3/Z7/Z8 SP. Cold slabs cause unpredictable quality outcomes.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30168" y="3858768"/>
            <a:ext cx="932688" cy="457200"/>
          </a:xfrm>
          <a:prstGeom prst="rect">
            <a:avLst/>
          </a:prstGeom>
          <a:solidFill>
            <a:srgbClr val="B91C1C">
              <a:alpha val="12000"/>
            </a:srgbClr>
          </a:solidFill>
          <a:ln w="12700">
            <a:solidFill>
              <a:srgbClr val="B91C1C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387705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−25.6°C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30168" y="411480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slab deficit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73168" y="1335024"/>
            <a:ext cx="43159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73168" y="1335024"/>
            <a:ext cx="64008" cy="11155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13716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76088" y="13898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Flue gas temperature uncontrolled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76088" y="1627632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Chimney FGT reaches 429°C in S1 vs 380°C in S2 on same furnace — wide variance. No model links AFR/damper/zone temps to FGT. Excess FGT means recuperator overloading, higher stack losses, and thermal stress on internals.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083296" y="1389888"/>
            <a:ext cx="932688" cy="457200"/>
          </a:xfrm>
          <a:prstGeom prst="rect">
            <a:avLst/>
          </a:prstGeom>
          <a:solidFill>
            <a:srgbClr val="B45309">
              <a:alpha val="12000"/>
            </a:srgbClr>
          </a:solidFill>
          <a:ln w="12700">
            <a:solidFill>
              <a:srgbClr val="B45309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83296" y="140817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429°C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083296" y="164592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FGT in S1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73168" y="2569464"/>
            <a:ext cx="43159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73168" y="2569464"/>
            <a:ext cx="64008" cy="1115568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2312" y="260604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76088" y="2624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No shift-level fuel cost accountability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76088" y="2862072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no system calculates: "This schedule could have been run at X Nm³/hr less fuel while keeping all FCE targets." S3 (Nov 2025): running at +9.8°C mean excess temperature — 3,800+ Nm³/hr wasted with full quality compliance.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083296" y="2624328"/>
            <a:ext cx="932688" cy="457200"/>
          </a:xfrm>
          <a:prstGeom prst="rect">
            <a:avLst/>
          </a:prstGeom>
          <a:solidFill>
            <a:srgbClr val="0F4C81">
              <a:alpha val="12000"/>
            </a:srgbClr>
          </a:solidFill>
          <a:ln w="12700">
            <a:solidFill>
              <a:srgbClr val="0F4C81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83296" y="264261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₹5.3L/shift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083296" y="28803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waste S3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HOW THE AI MODEL SOLVES EACH PROBLEM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regression engines + advisory logic + zone compensation + shift reporting — all running in real-time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68096"/>
            <a:ext cx="6400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41248"/>
            <a:ext cx="192024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85039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P1 — Intuition-based SPs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23160" y="8503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97480" y="841248"/>
            <a:ext cx="1920240" cy="20116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15768" y="85039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M1/M2 Setpoint Model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09160" y="8229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Regression-calibrated SP recommendations based on max recipe target (M1) or weighted avg (M2). Physics-constrained fuel model ensures all slopes are positive. Instant SP advisory for any grade mix.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001000" y="896112"/>
            <a:ext cx="749808" cy="475488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896112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8–18% fuel saving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59105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591056"/>
            <a:ext cx="6400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664208"/>
            <a:ext cx="192024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167335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P2 — Post-discharge quality failure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23160" y="16733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697480" y="1664208"/>
            <a:ext cx="1920240" cy="20116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15768" y="167335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FCE Dropout Prediction Model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09160" y="16459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R²=0.61 regression on 30,731 slabs predicts FCE for every slab BEFORE it discharges. If predicted FCE &lt; target −3°C: alert operator with required SP adjustment. Zero reactive firefighting.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001000" y="1719072"/>
            <a:ext cx="749808" cy="475488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1000" y="1719072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pre-discharge visibility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41401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414016"/>
            <a:ext cx="6400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487168"/>
            <a:ext cx="192024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249631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P3 — No cold-slab compensation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23160" y="24963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697480" y="2487168"/>
            <a:ext cx="1920240" cy="20116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15768" y="249631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Zone Compensation Algorithm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09160" y="24688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entry temp &lt;140°C. Computes FCE deficit = 0.00233×(167−entry). Calculates required Z3 SP increase (highest FCE coefficient = 0.069). Automatically recommends Z3/Z7/Z8 SP boost.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001000" y="2542032"/>
            <a:ext cx="749808" cy="475488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01000" y="2542032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−9 to −26°C failures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23697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236976"/>
            <a:ext cx="6400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310128"/>
            <a:ext cx="192024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331927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P4 — Uncontrolled FGT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423160" y="33192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697480" y="3310128"/>
            <a:ext cx="1920240" cy="20116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15768" y="331927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Flue Gas Temp Model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09160" y="32918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R²=0.70 model links all 8 zone temps + AFR + O₂ + pressure + damper to chimney FGT. If FGT &gt;460°C: recommends AFR increase (+1 AFR = −18.8°C FGT) or damper reduction. Prevents recuperator damage.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001000" y="3364992"/>
            <a:ext cx="749808" cy="475488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01000" y="3364992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FGT held &lt;440°C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405993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4059936"/>
            <a:ext cx="6400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4133088"/>
            <a:ext cx="1920240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" y="414223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P5 — No cost accountability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423160" y="4142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2697480" y="4133088"/>
            <a:ext cx="1920240" cy="20116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15768" y="414223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Fuel Saving Quantification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09160" y="41148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calculates exact Nm³/hr saving opportunity for every schedule. Shows: "Reduce Z1/Z2 by X°C → save Y Nm³/hr → ₹Z per shift." Generates per-shift report with KPI vs P25 benchmark.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001000" y="4187952"/>
            <a:ext cx="749808" cy="475488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01000" y="4187952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₹40–90K per shift saving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SCHEMATIC — AI OPTIMISATION APPROACH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slab schedule input → regression prediction → advisory → optimal setpoints → shift report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92608" y="804672"/>
            <a:ext cx="8577072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13816"/>
            <a:ext cx="8577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BEAM REHEATING FURNACE — 8 ZONE, 40 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2608" y="1133856"/>
            <a:ext cx="1033272" cy="868680"/>
          </a:xfrm>
          <a:prstGeom prst="rect">
            <a:avLst/>
          </a:prstGeom>
          <a:solidFill>
            <a:srgbClr val="1A3A6B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52144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08176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1260°C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" y="1627632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21208" y="2002536"/>
            <a:ext cx="0" cy="164592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002536"/>
            <a:ext cx="0" cy="164592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" y="2002536"/>
            <a:ext cx="0" cy="164592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62456" y="1133856"/>
            <a:ext cx="1033272" cy="868680"/>
          </a:xfrm>
          <a:prstGeom prst="rect">
            <a:avLst/>
          </a:prstGeom>
          <a:solidFill>
            <a:srgbClr val="1A3A6B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62456" y="1152144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62456" y="1408176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1265°C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62456" y="1627632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591056" y="2002536"/>
            <a:ext cx="0" cy="164592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74520" y="2002536"/>
            <a:ext cx="0" cy="164592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57984" y="2002536"/>
            <a:ext cx="0" cy="164592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32304" y="1133856"/>
            <a:ext cx="1033272" cy="868680"/>
          </a:xfrm>
          <a:prstGeom prst="rect">
            <a:avLst/>
          </a:prstGeom>
          <a:solidFill>
            <a:srgbClr val="8B3A00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32304" y="1152144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32304" y="1408176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1320°C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32304" y="1627632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60904" y="2002536"/>
            <a:ext cx="0" cy="164592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44368" y="2002536"/>
            <a:ext cx="0" cy="164592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27832" y="2002536"/>
            <a:ext cx="0" cy="164592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02152" y="1133856"/>
            <a:ext cx="1033272" cy="868680"/>
          </a:xfrm>
          <a:prstGeom prst="rect">
            <a:avLst/>
          </a:prstGeom>
          <a:solidFill>
            <a:srgbClr val="8B3A00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02152" y="1152144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02152" y="1408176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1315°C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02152" y="1627632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730752" y="2002536"/>
            <a:ext cx="0" cy="164592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14216" y="2002536"/>
            <a:ext cx="0" cy="164592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0" y="2002536"/>
            <a:ext cx="0" cy="164592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1133856"/>
            <a:ext cx="1033272" cy="868680"/>
          </a:xfrm>
          <a:prstGeom prst="rect">
            <a:avLst/>
          </a:prstGeom>
          <a:solidFill>
            <a:srgbClr val="7A1200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1152144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0" y="1408176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1260°C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0" y="1627632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00600" y="2002536"/>
            <a:ext cx="0" cy="164592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84064" y="2002536"/>
            <a:ext cx="0" cy="164592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67528" y="2002536"/>
            <a:ext cx="0" cy="164592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41848" y="1133856"/>
            <a:ext cx="1033272" cy="868680"/>
          </a:xfrm>
          <a:prstGeom prst="rect">
            <a:avLst/>
          </a:prstGeom>
          <a:solidFill>
            <a:srgbClr val="7A1200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41848" y="1152144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41848" y="1408176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1258°C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41848" y="1627632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870448" y="2002536"/>
            <a:ext cx="0" cy="164592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53912" y="2002536"/>
            <a:ext cx="0" cy="164592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37376" y="2002536"/>
            <a:ext cx="0" cy="164592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11696" y="1133856"/>
            <a:ext cx="1033272" cy="868680"/>
          </a:xfrm>
          <a:prstGeom prst="rect">
            <a:avLst/>
          </a:prstGeom>
          <a:solidFill>
            <a:srgbClr val="6A1000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11696" y="1152144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711696" y="1408176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1258°C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11696" y="1627632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781544" y="1133856"/>
            <a:ext cx="1033272" cy="868680"/>
          </a:xfrm>
          <a:prstGeom prst="rect">
            <a:avLst/>
          </a:prstGeom>
          <a:solidFill>
            <a:srgbClr val="5A0E00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81544" y="1152144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781544" y="1408176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1255°C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781544" y="1627632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92608" y="2249424"/>
            <a:ext cx="8577072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ysDash"/>
          </a:ln>
        </p:spPr>
      </p:sp>
      <p:sp>
        <p:nvSpPr>
          <p:cNvPr id="58" name="Text 56"/>
          <p:cNvSpPr/>
          <p:nvPr/>
        </p:nvSpPr>
        <p:spPr>
          <a:xfrm>
            <a:off x="292608" y="2267712"/>
            <a:ext cx="8577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TRAVELS THROUGH FURNACE  →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92608" y="20116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321040" y="20116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20040" y="2560320"/>
            <a:ext cx="11430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20040" y="2560320"/>
            <a:ext cx="1143000" cy="548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0040" y="2560320"/>
            <a:ext cx="256032" cy="1993392"/>
          </a:xfrm>
          <a:prstGeom prst="rect">
            <a:avLst/>
          </a:prstGeom>
          <a:solidFill>
            <a:srgbClr val="0D213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9184" y="2578608"/>
            <a:ext cx="237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612648" y="263347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12648" y="3127248"/>
            <a:ext cx="804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· Thickness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· Entry Temp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Target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463040" y="3557016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463040" y="3456432"/>
            <a:ext cx="100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563624" y="2560320"/>
            <a:ext cx="11430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563624" y="2560320"/>
            <a:ext cx="1143000" cy="548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563624" y="2560320"/>
            <a:ext cx="256032" cy="1993392"/>
          </a:xfrm>
          <a:prstGeom prst="rect">
            <a:avLst/>
          </a:prstGeom>
          <a:solidFill>
            <a:srgbClr val="0F4C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572768" y="2578608"/>
            <a:ext cx="237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1856232" y="263347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856232" y="3127248"/>
            <a:ext cx="804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Zone Actual Temps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per Zone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 · O₂ · FGT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706624" y="3557016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06624" y="3456432"/>
            <a:ext cx="100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807208" y="2560320"/>
            <a:ext cx="11430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2807208" y="2560320"/>
            <a:ext cx="114300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07208" y="2560320"/>
            <a:ext cx="256032" cy="1993392"/>
          </a:xfrm>
          <a:prstGeom prst="rect">
            <a:avLst/>
          </a:prstGeom>
          <a:solidFill>
            <a:srgbClr val="C2410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816352" y="2578608"/>
            <a:ext cx="237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3099816" y="263347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3099816" y="3127248"/>
            <a:ext cx="804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R²=0.61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Per-slab prediction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discharge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950208" y="3557016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950208" y="3456432"/>
            <a:ext cx="100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050792" y="2560320"/>
            <a:ext cx="11430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4050792" y="2560320"/>
            <a:ext cx="114300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050792" y="2560320"/>
            <a:ext cx="256032" cy="1993392"/>
          </a:xfrm>
          <a:prstGeom prst="rect">
            <a:avLst/>
          </a:prstGeom>
          <a:solidFill>
            <a:srgbClr val="B4530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059936" y="2578608"/>
            <a:ext cx="237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4343400" y="263347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4343400" y="3127248"/>
            <a:ext cx="804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Per-zone model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Physics-constrained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slopes +ive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193792" y="3557016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193792" y="3456432"/>
            <a:ext cx="100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5294376" y="2560320"/>
            <a:ext cx="11430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5294376" y="2560320"/>
            <a:ext cx="1143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294376" y="2560320"/>
            <a:ext cx="256032" cy="1993392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303520" y="2578608"/>
            <a:ext cx="237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97" name="Text 95"/>
          <p:cNvSpPr/>
          <p:nvPr/>
        </p:nvSpPr>
        <p:spPr>
          <a:xfrm>
            <a:off x="5586984" y="263347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5586984" y="3127248"/>
            <a:ext cx="804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R²=0.70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AFR/Damper leverage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at 460°C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6437376" y="3557016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437376" y="3456432"/>
            <a:ext cx="100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6537960" y="2560320"/>
            <a:ext cx="11430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6537960" y="2560320"/>
            <a:ext cx="11430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537960" y="2560320"/>
            <a:ext cx="256032" cy="1993392"/>
          </a:xfrm>
          <a:prstGeom prst="rect">
            <a:avLst/>
          </a:prstGeom>
          <a:solidFill>
            <a:srgbClr val="16A34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547104" y="2578608"/>
            <a:ext cx="237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05" name="Text 103"/>
          <p:cNvSpPr/>
          <p:nvPr/>
        </p:nvSpPr>
        <p:spPr>
          <a:xfrm>
            <a:off x="6830568" y="263347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6830568" y="3127248"/>
            <a:ext cx="804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recipe target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back-solve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compensation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7680960" y="3557016"/>
            <a:ext cx="10058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680960" y="3456432"/>
            <a:ext cx="100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7781544" y="2560320"/>
            <a:ext cx="11430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7781544" y="2560320"/>
            <a:ext cx="114300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781544" y="2560320"/>
            <a:ext cx="256032" cy="1993392"/>
          </a:xfrm>
          <a:prstGeom prst="rect">
            <a:avLst/>
          </a:prstGeom>
          <a:solidFill>
            <a:srgbClr val="15803D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790688" y="2578608"/>
            <a:ext cx="237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13" name="Text 111"/>
          <p:cNvSpPr/>
          <p:nvPr/>
        </p:nvSpPr>
        <p:spPr>
          <a:xfrm>
            <a:off x="8074152" y="263347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8074152" y="3127248"/>
            <a:ext cx="804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SPs applied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saving quantified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KPI report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3712464" y="4389120"/>
            <a:ext cx="3566160" cy="201168"/>
          </a:xfrm>
          <a:prstGeom prst="rect">
            <a:avLst/>
          </a:prstGeom>
          <a:solidFill>
            <a:srgbClr val="C2410C">
              <a:alpha val="15000"/>
            </a:srgbClr>
          </a:solidFill>
          <a:ln w="12700">
            <a:solidFill>
              <a:srgbClr val="C2410C">
                <a:alpha val="40000"/>
              </a:srgbClr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749040" y="439826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FCE Dropout  FCE = 697.1 + Σ(fceZ_i × T_i) + f(thk,wid,entry,res,tgt)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320040" y="4681728"/>
            <a:ext cx="2377440" cy="201168"/>
          </a:xfrm>
          <a:prstGeom prst="rect">
            <a:avLst/>
          </a:prstGeom>
          <a:solidFill>
            <a:srgbClr val="B45309">
              <a:alpha val="15000"/>
            </a:srgbClr>
          </a:solidFill>
          <a:ln w="12700">
            <a:solidFill>
              <a:srgbClr val="B45309">
                <a:alpha val="40000"/>
              </a:srgbClr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56616" y="4690872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Fuel  Fuel_i = int_i + slope_i × SP_i  |  Σ slopes all positive (physics)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4315968" y="4681728"/>
            <a:ext cx="3657600" cy="201168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352544" y="4690872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FGT  FGT = 590.9 + Σ(FGTZ_i × T_i) + 6.96×O₂ − 18.79×AFR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 EQUATIONS — TRAINED ON HAZIRA RHF-1 OPERATIONAL DATA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 Dropout Model (R²=0.61 · 30,731 slabs) + Fuel Model (3,960 hrs) + FGT Model (R²=0.70 · 3,955 hrs)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8503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68096"/>
            <a:ext cx="850392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859536"/>
            <a:ext cx="54864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5953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FCE DROPOUT PREDICTION 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FCE  =  697.09  +  0.0141×T_Z1  +  0.0071×T_Z2  +  0.0687×T_Z3  −  0.0370×T_Z4  +  0.0157×T_Z5  +  0.0127×T_Z6  +  0.0495×T_Z7  +  0.0423×T_Z8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3898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 (−0.3364×Thickness)  +  (0.0176×Width)  +  (0.0029×EntryTemp)  +  (−0.0082×ResidenceTime)  +  (0.3047×RecipeTarget)  +  (−8.2 × CoffinFlag)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1682496"/>
            <a:ext cx="196596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09928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Z3 coefficient = +0.069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1901952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zone lever — 1°C rise in Z3 actual gives 0.069°C FCE gain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42032" y="1682496"/>
            <a:ext cx="196596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1709928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Z7 coefficient = +0.050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78608" y="1901952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best compensator — especially for cold slabs at discharge end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45152" y="1682496"/>
            <a:ext cx="196596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709928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Recipe target r=+0.67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81728" y="1901952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single driver — model accounts for different grade targets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48272" y="1682496"/>
            <a:ext cx="196596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1709928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Thickness = −0.336°C/mm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84848" y="1901952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Thicker slabs lose 0.34°C FCE per extra mm — key for 230mm grades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944368"/>
            <a:ext cx="416052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944368"/>
            <a:ext cx="4160520" cy="548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3035808"/>
            <a:ext cx="54864" cy="21945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0358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FUEL CONSUMPTION MODEL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" y="3319272"/>
            <a:ext cx="621792" cy="164592"/>
          </a:xfrm>
          <a:prstGeom prst="rect">
            <a:avLst/>
          </a:prstGeom>
          <a:solidFill>
            <a:srgbClr val="0D213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31927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042416" y="3319272"/>
            <a:ext cx="621792" cy="164592"/>
          </a:xfrm>
          <a:prstGeom prst="rect">
            <a:avLst/>
          </a:prstGeom>
          <a:solidFill>
            <a:srgbClr val="0D213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" y="331927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(Nm³/°C SP)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700784" y="3319272"/>
            <a:ext cx="621792" cy="164592"/>
          </a:xfrm>
          <a:prstGeom prst="rect">
            <a:avLst/>
          </a:prstGeom>
          <a:solidFill>
            <a:srgbClr val="0D213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00784" y="331927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(Nm³/hr)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359152" y="3319272"/>
            <a:ext cx="621792" cy="164592"/>
          </a:xfrm>
          <a:prstGeom prst="rect">
            <a:avLst/>
          </a:prstGeom>
          <a:solidFill>
            <a:srgbClr val="0D213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59152" y="331927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@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SP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017520" y="3319272"/>
            <a:ext cx="621792" cy="164592"/>
          </a:xfrm>
          <a:prstGeom prst="rect">
            <a:avLst/>
          </a:prstGeom>
          <a:solidFill>
            <a:srgbClr val="0D213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0" y="331927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675888" y="3319272"/>
            <a:ext cx="621792" cy="164592"/>
          </a:xfrm>
          <a:prstGeom prst="rect">
            <a:avLst/>
          </a:prstGeom>
          <a:solidFill>
            <a:srgbClr val="0D213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75888" y="331927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84048" y="350215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50215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 PRE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042416" y="350215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2416" y="350215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25.77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700784" y="350215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00784" y="350215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−24,008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359152" y="350215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59152" y="350215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6,504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017520" y="350215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0" y="350215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675888" y="350215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75888" y="350215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0.0141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84048" y="368503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" y="368503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 PRE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042416" y="368503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42416" y="368503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34.14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700784" y="368503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00784" y="368503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−27,605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359152" y="368503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59152" y="368503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13,142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017520" y="368503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17520" y="368503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675888" y="368503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75888" y="368503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0.0071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84048" y="386791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4048" y="386791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HEAT★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42416" y="386791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42416" y="386791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40.76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700784" y="386791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00784" y="386791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−49,004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359152" y="386791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359152" y="386791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2,795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017520" y="386791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17520" y="386791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675888" y="386791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75888" y="386791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0.0687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84048" y="405079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84048" y="405079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 HEAT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1042416" y="405079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42416" y="405079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14.20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700784" y="405079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700784" y="405079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−11,902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359152" y="405079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359152" y="405079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6,776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3017520" y="405079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017520" y="405079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675888" y="405079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675888" y="405079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−0.037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384048" y="423367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84048" y="423367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 SOAK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1042416" y="423367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42416" y="423367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1.56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1700784" y="423367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700784" y="423367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−1,821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359152" y="423367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359152" y="423367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3017520" y="423367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017520" y="423367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3675888" y="423367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675888" y="423367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0.0157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384048" y="441655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84048" y="441655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 SOAK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1042416" y="441655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42416" y="441655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1700784" y="441655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700784" y="441655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−423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2359152" y="441655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359152" y="441655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475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3017520" y="441655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017520" y="441655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3675888" y="441655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675888" y="441655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0.0127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384048" y="459943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84048" y="459943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 SOAK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1042416" y="459943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042416" y="459943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1700784" y="459943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700784" y="459943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−1,176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359152" y="459943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359152" y="459943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3017520" y="459943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017520" y="459943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3675888" y="4599432"/>
            <a:ext cx="62179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675888" y="459943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0.0495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384048" y="478231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84048" y="478231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 DISC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1042416" y="478231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2416" y="478231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1700784" y="478231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700784" y="478231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−295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2359152" y="478231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2359152" y="478231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379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3017520" y="478231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017520" y="478231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0.9%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3675888" y="4782312"/>
            <a:ext cx="6217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675888" y="478231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0.0423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4617720" y="2944368"/>
            <a:ext cx="420624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6" name="Shape 134"/>
          <p:cNvSpPr/>
          <p:nvPr/>
        </p:nvSpPr>
        <p:spPr>
          <a:xfrm>
            <a:off x="4617720" y="2944368"/>
            <a:ext cx="42062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736592" y="3035808"/>
            <a:ext cx="54864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846320" y="30358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FLUE GAS TEMPERATURE MODEL</a:t>
            </a:r>
            <a:endParaRPr lang="en-US" sz="1000" dirty="0"/>
          </a:p>
        </p:txBody>
      </p:sp>
      <p:sp>
        <p:nvSpPr>
          <p:cNvPr id="139" name="Text 137"/>
          <p:cNvSpPr/>
          <p:nvPr/>
        </p:nvSpPr>
        <p:spPr>
          <a:xfrm>
            <a:off x="4736592" y="332841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FGT  =  590.93  +  Σ(FGTZ_i × T_i)  +  6.96×O₂  −  5.35×Pressure  +  1.09×Damper  −  18.79×AFR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4736592" y="3749040"/>
            <a:ext cx="749808" cy="1645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736592" y="374904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5522976" y="3749040"/>
            <a:ext cx="1115568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522976" y="37490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−18.79°C per +1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6675120" y="3749040"/>
            <a:ext cx="20848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693408" y="3749040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POWERFUL — increase AFR to cool flue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4736592" y="3950208"/>
            <a:ext cx="749808" cy="1645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736592" y="395020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Damper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5522976" y="3950208"/>
            <a:ext cx="1115568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5522976" y="395020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+1.09°C per +1%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6675120" y="3950208"/>
            <a:ext cx="20848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693408" y="3950208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damper pulls more hot gas — keep ≤55%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4736592" y="4151376"/>
            <a:ext cx="749808" cy="1645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736592" y="415137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%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5522976" y="4151376"/>
            <a:ext cx="1115568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522976" y="415137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+6.96°C per +1%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6675120" y="4151376"/>
            <a:ext cx="20848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6693408" y="4151376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air heats flue — target ≤5%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4736592" y="4352544"/>
            <a:ext cx="749808" cy="1645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4736592" y="435254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5522976" y="4352544"/>
            <a:ext cx="1115568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5522976" y="43525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−5.35°C per +1Pa</a:t>
            </a:r>
            <a:endParaRPr lang="en-US" sz="800" dirty="0"/>
          </a:p>
        </p:txBody>
      </p:sp>
      <p:sp>
        <p:nvSpPr>
          <p:cNvPr id="162" name="Shape 160"/>
          <p:cNvSpPr/>
          <p:nvPr/>
        </p:nvSpPr>
        <p:spPr>
          <a:xfrm>
            <a:off x="6675120" y="4352544"/>
            <a:ext cx="20848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6693408" y="4352544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pressure reduces draft pull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4736592" y="4553712"/>
            <a:ext cx="749808" cy="1645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736592" y="455371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5522976" y="4553712"/>
            <a:ext cx="1115568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522976" y="455371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FGT &gt; 460°C</a:t>
            </a:r>
            <a:endParaRPr lang="en-US" sz="800" dirty="0"/>
          </a:p>
        </p:txBody>
      </p:sp>
      <p:sp>
        <p:nvSpPr>
          <p:cNvPr id="168" name="Shape 166"/>
          <p:cNvSpPr/>
          <p:nvPr/>
        </p:nvSpPr>
        <p:spPr>
          <a:xfrm>
            <a:off x="6675120" y="4553712"/>
            <a:ext cx="20848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6693408" y="455371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— recuperator risk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4736592" y="4754880"/>
            <a:ext cx="749808" cy="1645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4736592" y="475488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72" name="Shape 170"/>
          <p:cNvSpPr/>
          <p:nvPr/>
        </p:nvSpPr>
        <p:spPr>
          <a:xfrm>
            <a:off x="5522976" y="4754880"/>
            <a:ext cx="1115568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5522976" y="475488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FGT &gt; 490°C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>
            <a:off x="6675120" y="4754880"/>
            <a:ext cx="20848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6693408" y="4754880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 — adjust AFR/damper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— SCHEDULE 20251783  |  Friday, 03 October 2025  |  Afternoon Shift  |  15 SLABS  ▏  CURRENT STATE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09560" y="73152"/>
            <a:ext cx="1143000" cy="2743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9560" y="731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OVER-FIRED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393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Grades: ANCRMB6 · ANIFS01 · ANCRP09 · ANEDD02 · ANTRN51 · ANGEN02 · ANDRWB2 · ANTRN65 · ANTRN33 · ANTRK65 · ANTRN04  |  Thickness: 217–230mm  |  Discharge: 15:42–16:52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54864" cy="21945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8229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ZONE TEMPERATURES vs SETPOINT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330889"/>
            <a:ext cx="228600" cy="955111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1388878"/>
            <a:ext cx="228600" cy="897122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1264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6576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914400" y="1330889"/>
            <a:ext cx="228600" cy="955111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61288" y="1399899"/>
            <a:ext cx="228600" cy="886101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1264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91440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1238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1440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463040" y="1165582"/>
            <a:ext cx="228600" cy="1120418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09928" y="1181850"/>
            <a:ext cx="228600" cy="1104150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1327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46304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1321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46304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011680" y="1160334"/>
            <a:ext cx="228600" cy="1125666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58568" y="1184474"/>
            <a:ext cx="228600" cy="1101526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1329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01168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1320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01168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560320" y="1338761"/>
            <a:ext cx="228600" cy="947239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07208" y="1380744"/>
            <a:ext cx="228600" cy="905256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1261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56032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1245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56032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108960" y="1346633"/>
            <a:ext cx="228600" cy="939367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55848" y="1383368"/>
            <a:ext cx="228600" cy="902632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1258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10896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1244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10896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657600" y="1341385"/>
            <a:ext cx="228600" cy="944615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04488" y="1374184"/>
            <a:ext cx="228600" cy="911816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1260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65760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1248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65760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206240" y="1344009"/>
            <a:ext cx="228600" cy="941991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53128" y="1384155"/>
            <a:ext cx="228600" cy="901845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1259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20624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1244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20624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20040" y="272491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SP (Blue)  ■ Actual (Orange)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0040" y="2944368"/>
            <a:ext cx="54864" cy="21945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9768" y="29443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PARAMETERS — CURRENT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7472" y="3182112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47472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40,985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347472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Fuel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47472" y="3566160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47472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10.434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347472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426464" y="3182112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1426464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4.64%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426464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O₂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426464" y="3566160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426464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6.15 Pa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426464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Furnace Prs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505456" y="3182112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2505456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57.3%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2505456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Damper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2505456" y="3566160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2505456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429.3°C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2505456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Chimney FGT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584448" y="3182112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3584448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min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3584448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 Preheat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584448" y="3566160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3584448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min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3584448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 Heating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681728" y="822960"/>
            <a:ext cx="54864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91456" y="8229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FCE DROPOUT — CURRENT STATE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709160" y="1042416"/>
            <a:ext cx="201168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09160" y="10424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910328" y="1042416"/>
            <a:ext cx="786384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10328" y="104241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5696712" y="1042416"/>
            <a:ext cx="329184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696712" y="104241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Thk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6025896" y="1042416"/>
            <a:ext cx="475488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025896" y="104241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Tgt°C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501384" y="1042416"/>
            <a:ext cx="493776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501384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FCE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995160" y="1042416"/>
            <a:ext cx="493776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995160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7488936" y="1042416"/>
            <a:ext cx="493776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488936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709160" y="1261872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709160" y="12618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910328" y="1261872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910328" y="12618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ANCRMB6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5696712" y="1261872"/>
            <a:ext cx="3291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96712" y="12618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6025896" y="1261872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025896" y="12618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501384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01384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1231.7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6995160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995160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+1.5°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7488936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488936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4709160" y="1499616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709160" y="1499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4910328" y="1499616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10328" y="149961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ANIFS01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5696712" y="1499616"/>
            <a:ext cx="3291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96712" y="149961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6025896" y="1499616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025896" y="149961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6501384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501384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1238.6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6995160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995160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+18.4°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7488936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488936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4709160" y="1737360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709160" y="17373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4910328" y="1737360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910328" y="173736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ANCRP09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5696712" y="1737360"/>
            <a:ext cx="3291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696712" y="173736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6025896" y="1737360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025896" y="173736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6501384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501384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1243.4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6995160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995160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+13.3°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7488936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488936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4709160" y="1975104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709160" y="19751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4910328" y="1975104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910328" y="19751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ANEDD02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5696712" y="1975104"/>
            <a:ext cx="3291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696712" y="197510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6025896" y="1975104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025896" y="197510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6501384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501384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1238.4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6995160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995160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+8.3°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7488936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7488936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4709160" y="2212848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709160" y="221284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4910328" y="2212848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910328" y="221284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ANTRN51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5696712" y="2212848"/>
            <a:ext cx="3291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696712" y="221284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6025896" y="2212848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025896" y="221284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6501384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6501384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1235.5</a:t>
            </a: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6995160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995160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+5.3°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7488936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7488936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4709160" y="2450592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709160" y="24505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4910328" y="2450592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910328" y="24505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ANGEN02</a:t>
            </a: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5696712" y="2450592"/>
            <a:ext cx="3291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696712" y="24505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6025896" y="2450592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6025896" y="245059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1240.2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6501384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6501384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1228.9</a:t>
            </a:r>
            <a:endParaRPr lang="en-US" sz="750" dirty="0"/>
          </a:p>
        </p:txBody>
      </p:sp>
      <p:sp>
        <p:nvSpPr>
          <p:cNvPr id="172" name="Shape 170"/>
          <p:cNvSpPr/>
          <p:nvPr/>
        </p:nvSpPr>
        <p:spPr>
          <a:xfrm>
            <a:off x="6995160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6995160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-11.2°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7488936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7488936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FAIL</a:t>
            </a:r>
            <a:endParaRPr lang="en-US" sz="750" dirty="0"/>
          </a:p>
        </p:txBody>
      </p:sp>
      <p:sp>
        <p:nvSpPr>
          <p:cNvPr id="176" name="Shape 174"/>
          <p:cNvSpPr/>
          <p:nvPr/>
        </p:nvSpPr>
        <p:spPr>
          <a:xfrm>
            <a:off x="4709160" y="2688336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709160" y="26883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178" name="Shape 176"/>
          <p:cNvSpPr/>
          <p:nvPr/>
        </p:nvSpPr>
        <p:spPr>
          <a:xfrm>
            <a:off x="4910328" y="2688336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4910328" y="268833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ANIFS01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5696712" y="2688336"/>
            <a:ext cx="3291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5696712" y="268833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182" name="Shape 180"/>
          <p:cNvSpPr/>
          <p:nvPr/>
        </p:nvSpPr>
        <p:spPr>
          <a:xfrm>
            <a:off x="6025896" y="2688336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6025896" y="26883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6501384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6501384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1236.0</a:t>
            </a:r>
            <a:endParaRPr lang="en-US" sz="750" dirty="0"/>
          </a:p>
        </p:txBody>
      </p:sp>
      <p:sp>
        <p:nvSpPr>
          <p:cNvPr id="186" name="Shape 184"/>
          <p:cNvSpPr/>
          <p:nvPr/>
        </p:nvSpPr>
        <p:spPr>
          <a:xfrm>
            <a:off x="6995160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6995160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+5.8°</a:t>
            </a:r>
            <a:endParaRPr lang="en-US" sz="750" dirty="0"/>
          </a:p>
        </p:txBody>
      </p:sp>
      <p:sp>
        <p:nvSpPr>
          <p:cNvPr id="188" name="Shape 186"/>
          <p:cNvSpPr/>
          <p:nvPr/>
        </p:nvSpPr>
        <p:spPr>
          <a:xfrm>
            <a:off x="7488936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7488936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90" name="Shape 188"/>
          <p:cNvSpPr/>
          <p:nvPr/>
        </p:nvSpPr>
        <p:spPr>
          <a:xfrm>
            <a:off x="4709160" y="2926080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4709160" y="29260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910328" y="2926080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4910328" y="292608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ANDRWB2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5696712" y="2926080"/>
            <a:ext cx="3291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5696712" y="29260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196" name="Shape 194"/>
          <p:cNvSpPr/>
          <p:nvPr/>
        </p:nvSpPr>
        <p:spPr>
          <a:xfrm>
            <a:off x="6025896" y="2926080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025896" y="292608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98" name="Shape 196"/>
          <p:cNvSpPr/>
          <p:nvPr/>
        </p:nvSpPr>
        <p:spPr>
          <a:xfrm>
            <a:off x="6501384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6501384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1236.8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995160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6995160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+6.7°</a:t>
            </a:r>
            <a:endParaRPr lang="en-US" sz="750" dirty="0"/>
          </a:p>
        </p:txBody>
      </p:sp>
      <p:sp>
        <p:nvSpPr>
          <p:cNvPr id="202" name="Shape 200"/>
          <p:cNvSpPr/>
          <p:nvPr/>
        </p:nvSpPr>
        <p:spPr>
          <a:xfrm>
            <a:off x="7488936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7488936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4709160" y="3163824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4709160" y="31638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4910328" y="3163824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4910328" y="316382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ANTRN65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>
            <a:off x="5696712" y="3163824"/>
            <a:ext cx="3291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5696712" y="316382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210" name="Shape 208"/>
          <p:cNvSpPr/>
          <p:nvPr/>
        </p:nvSpPr>
        <p:spPr>
          <a:xfrm>
            <a:off x="6025896" y="3163824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6025896" y="31638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212" name="Shape 210"/>
          <p:cNvSpPr/>
          <p:nvPr/>
        </p:nvSpPr>
        <p:spPr>
          <a:xfrm>
            <a:off x="6501384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6501384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1232.8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6995160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6995160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+2.7°</a:t>
            </a:r>
            <a:endParaRPr lang="en-US" sz="750" dirty="0"/>
          </a:p>
        </p:txBody>
      </p:sp>
      <p:sp>
        <p:nvSpPr>
          <p:cNvPr id="216" name="Shape 214"/>
          <p:cNvSpPr/>
          <p:nvPr/>
        </p:nvSpPr>
        <p:spPr>
          <a:xfrm>
            <a:off x="7488936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488936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18" name="Shape 216"/>
          <p:cNvSpPr/>
          <p:nvPr/>
        </p:nvSpPr>
        <p:spPr>
          <a:xfrm>
            <a:off x="4709160" y="3401568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4709160" y="34015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220" name="Shape 218"/>
          <p:cNvSpPr/>
          <p:nvPr/>
        </p:nvSpPr>
        <p:spPr>
          <a:xfrm>
            <a:off x="4910328" y="3401568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4910328" y="340156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ANTRN65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5696712" y="3401568"/>
            <a:ext cx="3291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5696712" y="34015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224" name="Shape 222"/>
          <p:cNvSpPr/>
          <p:nvPr/>
        </p:nvSpPr>
        <p:spPr>
          <a:xfrm>
            <a:off x="6025896" y="3401568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6025896" y="340156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226" name="Shape 224"/>
          <p:cNvSpPr/>
          <p:nvPr/>
        </p:nvSpPr>
        <p:spPr>
          <a:xfrm>
            <a:off x="6501384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6501384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1227.3</a:t>
            </a:r>
            <a:endParaRPr lang="en-US" sz="750" dirty="0"/>
          </a:p>
        </p:txBody>
      </p:sp>
      <p:sp>
        <p:nvSpPr>
          <p:cNvPr id="228" name="Shape 226"/>
          <p:cNvSpPr/>
          <p:nvPr/>
        </p:nvSpPr>
        <p:spPr>
          <a:xfrm>
            <a:off x="6995160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6995160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+7.2°</a:t>
            </a:r>
            <a:endParaRPr lang="en-US" sz="750" dirty="0"/>
          </a:p>
        </p:txBody>
      </p:sp>
      <p:sp>
        <p:nvSpPr>
          <p:cNvPr id="230" name="Shape 228"/>
          <p:cNvSpPr/>
          <p:nvPr/>
        </p:nvSpPr>
        <p:spPr>
          <a:xfrm>
            <a:off x="7488936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7488936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32" name="Shape 230"/>
          <p:cNvSpPr/>
          <p:nvPr/>
        </p:nvSpPr>
        <p:spPr>
          <a:xfrm>
            <a:off x="4709160" y="3639312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4709160" y="36393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234" name="Shape 232"/>
          <p:cNvSpPr/>
          <p:nvPr/>
        </p:nvSpPr>
        <p:spPr>
          <a:xfrm>
            <a:off x="4910328" y="3639312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4910328" y="363931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ANTRN33</a:t>
            </a:r>
            <a:endParaRPr lang="en-US" sz="750" dirty="0"/>
          </a:p>
        </p:txBody>
      </p:sp>
      <p:sp>
        <p:nvSpPr>
          <p:cNvPr id="236" name="Shape 234"/>
          <p:cNvSpPr/>
          <p:nvPr/>
        </p:nvSpPr>
        <p:spPr>
          <a:xfrm>
            <a:off x="5696712" y="3639312"/>
            <a:ext cx="3291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5696712" y="36393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238" name="Shape 236"/>
          <p:cNvSpPr/>
          <p:nvPr/>
        </p:nvSpPr>
        <p:spPr>
          <a:xfrm>
            <a:off x="6025896" y="3639312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6025896" y="363931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240" name="Shape 238"/>
          <p:cNvSpPr/>
          <p:nvPr/>
        </p:nvSpPr>
        <p:spPr>
          <a:xfrm>
            <a:off x="6501384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6501384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1223.6</a:t>
            </a:r>
            <a:endParaRPr lang="en-US" sz="750" dirty="0"/>
          </a:p>
        </p:txBody>
      </p:sp>
      <p:sp>
        <p:nvSpPr>
          <p:cNvPr id="242" name="Shape 240"/>
          <p:cNvSpPr/>
          <p:nvPr/>
        </p:nvSpPr>
        <p:spPr>
          <a:xfrm>
            <a:off x="6995160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6995160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+3.4°</a:t>
            </a:r>
            <a:endParaRPr lang="en-US" sz="750" dirty="0"/>
          </a:p>
        </p:txBody>
      </p:sp>
      <p:sp>
        <p:nvSpPr>
          <p:cNvPr id="244" name="Shape 242"/>
          <p:cNvSpPr/>
          <p:nvPr/>
        </p:nvSpPr>
        <p:spPr>
          <a:xfrm>
            <a:off x="7488936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7488936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46" name="Shape 244"/>
          <p:cNvSpPr/>
          <p:nvPr/>
        </p:nvSpPr>
        <p:spPr>
          <a:xfrm>
            <a:off x="4709160" y="3877056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4709160" y="38770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248" name="Shape 246"/>
          <p:cNvSpPr/>
          <p:nvPr/>
        </p:nvSpPr>
        <p:spPr>
          <a:xfrm>
            <a:off x="4910328" y="3877056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4910328" y="387705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ANTRK65</a:t>
            </a:r>
            <a:endParaRPr lang="en-US" sz="750" dirty="0"/>
          </a:p>
        </p:txBody>
      </p:sp>
      <p:sp>
        <p:nvSpPr>
          <p:cNvPr id="250" name="Shape 248"/>
          <p:cNvSpPr/>
          <p:nvPr/>
        </p:nvSpPr>
        <p:spPr>
          <a:xfrm>
            <a:off x="5696712" y="3877056"/>
            <a:ext cx="3291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5696712" y="387705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252" name="Shape 250"/>
          <p:cNvSpPr/>
          <p:nvPr/>
        </p:nvSpPr>
        <p:spPr>
          <a:xfrm>
            <a:off x="6025896" y="3877056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6025896" y="387705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254" name="Shape 252"/>
          <p:cNvSpPr/>
          <p:nvPr/>
        </p:nvSpPr>
        <p:spPr>
          <a:xfrm>
            <a:off x="6501384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6501384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1223.1</a:t>
            </a:r>
            <a:endParaRPr lang="en-US" sz="750" dirty="0"/>
          </a:p>
        </p:txBody>
      </p:sp>
      <p:sp>
        <p:nvSpPr>
          <p:cNvPr id="256" name="Shape 254"/>
          <p:cNvSpPr/>
          <p:nvPr/>
        </p:nvSpPr>
        <p:spPr>
          <a:xfrm>
            <a:off x="6995160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6995160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+3.0°</a:t>
            </a:r>
            <a:endParaRPr lang="en-US" sz="750" dirty="0"/>
          </a:p>
        </p:txBody>
      </p:sp>
      <p:sp>
        <p:nvSpPr>
          <p:cNvPr id="258" name="Shape 256"/>
          <p:cNvSpPr/>
          <p:nvPr/>
        </p:nvSpPr>
        <p:spPr>
          <a:xfrm>
            <a:off x="7488936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7488936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60" name="Text 258"/>
          <p:cNvSpPr/>
          <p:nvPr/>
        </p:nvSpPr>
        <p:spPr>
          <a:xfrm>
            <a:off x="4709160" y="4114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more slabs (see appendix)</a:t>
            </a:r>
            <a:endParaRPr lang="en-US" sz="800" dirty="0"/>
          </a:p>
        </p:txBody>
      </p:sp>
      <p:sp>
        <p:nvSpPr>
          <p:cNvPr id="261" name="Shape 259"/>
          <p:cNvSpPr/>
          <p:nvPr/>
        </p:nvSpPr>
        <p:spPr>
          <a:xfrm>
            <a:off x="4709160" y="4206240"/>
            <a:ext cx="9875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2" name="Shape 260"/>
          <p:cNvSpPr/>
          <p:nvPr/>
        </p:nvSpPr>
        <p:spPr>
          <a:xfrm>
            <a:off x="4709160" y="4206240"/>
            <a:ext cx="987552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4709160" y="427939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14/15</a:t>
            </a:r>
            <a:endParaRPr lang="en-US" sz="1800" dirty="0"/>
          </a:p>
        </p:txBody>
      </p:sp>
      <p:sp>
        <p:nvSpPr>
          <p:cNvPr id="264" name="Text 262"/>
          <p:cNvSpPr/>
          <p:nvPr/>
        </p:nvSpPr>
        <p:spPr>
          <a:xfrm>
            <a:off x="4709160" y="4626864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On-Target</a:t>
            </a:r>
            <a:endParaRPr lang="en-US" sz="800" dirty="0"/>
          </a:p>
        </p:txBody>
      </p:sp>
      <p:sp>
        <p:nvSpPr>
          <p:cNvPr id="265" name="Shape 263"/>
          <p:cNvSpPr/>
          <p:nvPr/>
        </p:nvSpPr>
        <p:spPr>
          <a:xfrm>
            <a:off x="5779008" y="4206240"/>
            <a:ext cx="9875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6" name="Shape 264"/>
          <p:cNvSpPr/>
          <p:nvPr/>
        </p:nvSpPr>
        <p:spPr>
          <a:xfrm>
            <a:off x="5779008" y="4206240"/>
            <a:ext cx="987552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5779008" y="427939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68" name="Text 266"/>
          <p:cNvSpPr/>
          <p:nvPr/>
        </p:nvSpPr>
        <p:spPr>
          <a:xfrm>
            <a:off x="5779008" y="4626864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00" dirty="0"/>
          </a:p>
        </p:txBody>
      </p:sp>
      <p:sp>
        <p:nvSpPr>
          <p:cNvPr id="269" name="Shape 267"/>
          <p:cNvSpPr/>
          <p:nvPr/>
        </p:nvSpPr>
        <p:spPr>
          <a:xfrm>
            <a:off x="6848856" y="4206240"/>
            <a:ext cx="9875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0" name="Shape 268"/>
          <p:cNvSpPr/>
          <p:nvPr/>
        </p:nvSpPr>
        <p:spPr>
          <a:xfrm>
            <a:off x="6848856" y="4206240"/>
            <a:ext cx="987552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6848856" y="427939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+5.9°C</a:t>
            </a:r>
            <a:endParaRPr lang="en-US" sz="1800" dirty="0"/>
          </a:p>
        </p:txBody>
      </p:sp>
      <p:sp>
        <p:nvSpPr>
          <p:cNvPr id="272" name="Text 270"/>
          <p:cNvSpPr/>
          <p:nvPr/>
        </p:nvSpPr>
        <p:spPr>
          <a:xfrm>
            <a:off x="6848856" y="4626864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Dev</a:t>
            </a:r>
            <a:endParaRPr lang="en-US" sz="800" dirty="0"/>
          </a:p>
        </p:txBody>
      </p:sp>
      <p:sp>
        <p:nvSpPr>
          <p:cNvPr id="273" name="Shape 271"/>
          <p:cNvSpPr/>
          <p:nvPr/>
        </p:nvSpPr>
        <p:spPr>
          <a:xfrm>
            <a:off x="7918704" y="4206240"/>
            <a:ext cx="9875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4" name="Shape 272"/>
          <p:cNvSpPr/>
          <p:nvPr/>
        </p:nvSpPr>
        <p:spPr>
          <a:xfrm>
            <a:off x="7918704" y="4206240"/>
            <a:ext cx="98755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7918704" y="427939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429.3°C</a:t>
            </a:r>
            <a:endParaRPr lang="en-US" sz="1800" dirty="0"/>
          </a:p>
        </p:txBody>
      </p:sp>
      <p:sp>
        <p:nvSpPr>
          <p:cNvPr id="276" name="Text 274"/>
          <p:cNvSpPr/>
          <p:nvPr/>
        </p:nvSpPr>
        <p:spPr>
          <a:xfrm>
            <a:off x="7918704" y="4626864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Chimney FGT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— SCHEDULE 20251783  |  Friday, 03 October 2025  |  Afternoon Shift  |  15 SLABS  ▏  AI TARGET STATE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818120" y="45720"/>
            <a:ext cx="1234440" cy="34747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93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Action: OVER-FIRED: Reduce Z1/Z2 preheat 30-35°C. Trim Z3/Z4. Minor Z5-Z8 reduction. Max recipe 1240.2°C guaranteed.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54864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8229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SP — CURRENT vs MODEL OPTIMAL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330889"/>
            <a:ext cx="228600" cy="955111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1409607"/>
            <a:ext cx="228600" cy="876393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48009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1264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6576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6576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914400" y="1330889"/>
            <a:ext cx="228600" cy="955111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1288" y="1422727"/>
            <a:ext cx="228600" cy="863273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148009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440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1440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1229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1440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463040" y="1165582"/>
            <a:ext cx="228600" cy="1120418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09928" y="1218060"/>
            <a:ext cx="228600" cy="1067940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98270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6304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1327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46304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46304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011680" y="1160334"/>
            <a:ext cx="228600" cy="1125666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58568" y="1191821"/>
            <a:ext cx="228600" cy="1094179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97745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01168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1329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01168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1317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01168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560320" y="1338761"/>
            <a:ext cx="228600" cy="947239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07208" y="1354505"/>
            <a:ext cx="228600" cy="931495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0" y="1155881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56032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56032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1255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56032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108960" y="1346633"/>
            <a:ext cx="228600" cy="939367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55848" y="1362376"/>
            <a:ext cx="228600" cy="923624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1163753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10896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1258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10896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1252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10896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657600" y="1341385"/>
            <a:ext cx="228600" cy="944615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04488" y="1354505"/>
            <a:ext cx="228600" cy="931495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0" y="1158505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65760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1260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65760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1255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65760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206240" y="1344009"/>
            <a:ext cx="228600" cy="941991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53128" y="1359753"/>
            <a:ext cx="228600" cy="926247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0" y="1161129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20624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1259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20624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1253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20624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20040" y="272491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Current SP (Blue)  ■ Optimal SP (Green)  ΔSP shown above bars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0040" y="2944368"/>
            <a:ext cx="54864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9768" y="29443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PARAMETERS — TARGET STATE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47472" y="3182112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347472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34,324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347472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(Model)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47472" y="3566160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347472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347472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 Target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426464" y="3182112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1426464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1426464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O₂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426464" y="3566160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426464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Pa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1426464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Pressure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505456" y="3182112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2505456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2505456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Damper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505456" y="3566160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2505456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412°C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2505456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FGT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584448" y="3182112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3584448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+6,661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3584448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Saving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584448" y="3566160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3584448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1240.2°C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3584448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Target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681728" y="822960"/>
            <a:ext cx="54864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91456" y="8229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FCE DROPOUT — TARGET STATE (MODEL PREDICTED)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4709160" y="1042416"/>
            <a:ext cx="201168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09160" y="10424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910328" y="1042416"/>
            <a:ext cx="786384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10328" y="104241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5696712" y="1042416"/>
            <a:ext cx="475488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696712" y="104241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Tgt°C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6172200" y="1042416"/>
            <a:ext cx="493776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72200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 FCE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6665976" y="1042416"/>
            <a:ext cx="493776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665976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FCE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7159752" y="1042416"/>
            <a:ext cx="493776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159752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opt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7653528" y="1042416"/>
            <a:ext cx="493776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653528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4709160" y="1261872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709160" y="12618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910328" y="1261872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910328" y="12618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ANCRMB6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5696712" y="1261872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696712" y="12618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6172200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172200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1233.3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6665976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665976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1231.0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7159752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159752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+0.8°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7653528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653528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4709160" y="1499616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709160" y="1499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4910328" y="1499616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910328" y="149961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ANIFS01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5696712" y="1499616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696712" y="149961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6172200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172200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1229.6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6665976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665976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1227.3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7159752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159752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+7.1°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7653528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653528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4709160" y="1737360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709160" y="17373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4910328" y="1737360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910328" y="173736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ANCRP09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5696712" y="1737360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696712" y="173736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6172200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172200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1239.3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6665976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665976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1237.0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7159752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159752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+6.8°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7653528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653528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4709160" y="1975104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709160" y="19751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4910328" y="1975104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910328" y="19751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ANEDD02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5696712" y="1975104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5696712" y="197510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6172200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172200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1238.1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6665976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665976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1235.8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7159752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7159752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+5.6°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7653528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7653528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4709160" y="2212848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709160" y="221284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4910328" y="2212848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4910328" y="221284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ANTRN51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5696712" y="2212848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5696712" y="221284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6172200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6172200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1238.4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6665976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665976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1236.1</a:t>
            </a: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7159752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7159752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+5.9°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7653528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653528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4709160" y="2450592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4709160" y="24505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172" name="Shape 170"/>
          <p:cNvSpPr/>
          <p:nvPr/>
        </p:nvSpPr>
        <p:spPr>
          <a:xfrm>
            <a:off x="4910328" y="2450592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910328" y="24505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ANGEN02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5696712" y="2450592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5696712" y="245059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1240.2</a:t>
            </a:r>
            <a:endParaRPr lang="en-US" sz="750" dirty="0"/>
          </a:p>
        </p:txBody>
      </p:sp>
      <p:sp>
        <p:nvSpPr>
          <p:cNvPr id="176" name="Shape 174"/>
          <p:cNvSpPr/>
          <p:nvPr/>
        </p:nvSpPr>
        <p:spPr>
          <a:xfrm>
            <a:off x="6172200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6172200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1240.9</a:t>
            </a:r>
            <a:endParaRPr lang="en-US" sz="750" dirty="0"/>
          </a:p>
        </p:txBody>
      </p:sp>
      <p:sp>
        <p:nvSpPr>
          <p:cNvPr id="178" name="Shape 176"/>
          <p:cNvSpPr/>
          <p:nvPr/>
        </p:nvSpPr>
        <p:spPr>
          <a:xfrm>
            <a:off x="6665976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6665976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1238.7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7159752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7159752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-1.5°</a:t>
            </a:r>
            <a:endParaRPr lang="en-US" sz="750" dirty="0"/>
          </a:p>
        </p:txBody>
      </p:sp>
      <p:sp>
        <p:nvSpPr>
          <p:cNvPr id="182" name="Shape 180"/>
          <p:cNvSpPr/>
          <p:nvPr/>
        </p:nvSpPr>
        <p:spPr>
          <a:xfrm>
            <a:off x="7653528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7653528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4709160" y="2688336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4709160" y="26883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186" name="Shape 184"/>
          <p:cNvSpPr/>
          <p:nvPr/>
        </p:nvSpPr>
        <p:spPr>
          <a:xfrm>
            <a:off x="4910328" y="2688336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4910328" y="268833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ANIFS01</a:t>
            </a:r>
            <a:endParaRPr lang="en-US" sz="750" dirty="0"/>
          </a:p>
        </p:txBody>
      </p:sp>
      <p:sp>
        <p:nvSpPr>
          <p:cNvPr id="188" name="Shape 186"/>
          <p:cNvSpPr/>
          <p:nvPr/>
        </p:nvSpPr>
        <p:spPr>
          <a:xfrm>
            <a:off x="5696712" y="2688336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5696712" y="26883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90" name="Shape 188"/>
          <p:cNvSpPr/>
          <p:nvPr/>
        </p:nvSpPr>
        <p:spPr>
          <a:xfrm>
            <a:off x="6172200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6172200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1241.5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6665976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665976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1239.2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7159752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7159752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+9.0°</a:t>
            </a:r>
            <a:endParaRPr lang="en-US" sz="750" dirty="0"/>
          </a:p>
        </p:txBody>
      </p:sp>
      <p:sp>
        <p:nvSpPr>
          <p:cNvPr id="196" name="Shape 194"/>
          <p:cNvSpPr/>
          <p:nvPr/>
        </p:nvSpPr>
        <p:spPr>
          <a:xfrm>
            <a:off x="7653528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7653528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98" name="Shape 196"/>
          <p:cNvSpPr/>
          <p:nvPr/>
        </p:nvSpPr>
        <p:spPr>
          <a:xfrm>
            <a:off x="4709160" y="2926080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709160" y="29260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4910328" y="2926080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4910328" y="292608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ANDRWB2</a:t>
            </a:r>
            <a:endParaRPr lang="en-US" sz="750" dirty="0"/>
          </a:p>
        </p:txBody>
      </p:sp>
      <p:sp>
        <p:nvSpPr>
          <p:cNvPr id="202" name="Shape 200"/>
          <p:cNvSpPr/>
          <p:nvPr/>
        </p:nvSpPr>
        <p:spPr>
          <a:xfrm>
            <a:off x="5696712" y="2926080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5696712" y="292608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6172200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6172200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1238.6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6665976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6665976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1236.3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>
            <a:off x="7159752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7159752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+6.1°</a:t>
            </a:r>
            <a:endParaRPr lang="en-US" sz="750" dirty="0"/>
          </a:p>
        </p:txBody>
      </p:sp>
      <p:sp>
        <p:nvSpPr>
          <p:cNvPr id="210" name="Shape 208"/>
          <p:cNvSpPr/>
          <p:nvPr/>
        </p:nvSpPr>
        <p:spPr>
          <a:xfrm>
            <a:off x="7653528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7653528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12" name="Shape 210"/>
          <p:cNvSpPr/>
          <p:nvPr/>
        </p:nvSpPr>
        <p:spPr>
          <a:xfrm>
            <a:off x="4709160" y="3163824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4709160" y="31638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4910328" y="3163824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4910328" y="316382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ANTRN65</a:t>
            </a:r>
            <a:endParaRPr lang="en-US" sz="750" dirty="0"/>
          </a:p>
        </p:txBody>
      </p:sp>
      <p:sp>
        <p:nvSpPr>
          <p:cNvPr id="216" name="Shape 214"/>
          <p:cNvSpPr/>
          <p:nvPr/>
        </p:nvSpPr>
        <p:spPr>
          <a:xfrm>
            <a:off x="5696712" y="3163824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5696712" y="31638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218" name="Shape 216"/>
          <p:cNvSpPr/>
          <p:nvPr/>
        </p:nvSpPr>
        <p:spPr>
          <a:xfrm>
            <a:off x="6172200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6172200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1237.8</a:t>
            </a:r>
            <a:endParaRPr lang="en-US" sz="750" dirty="0"/>
          </a:p>
        </p:txBody>
      </p:sp>
      <p:sp>
        <p:nvSpPr>
          <p:cNvPr id="220" name="Shape 218"/>
          <p:cNvSpPr/>
          <p:nvPr/>
        </p:nvSpPr>
        <p:spPr>
          <a:xfrm>
            <a:off x="6665976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6665976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1235.6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7159752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7159752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+5.4°</a:t>
            </a:r>
            <a:endParaRPr lang="en-US" sz="750" dirty="0"/>
          </a:p>
        </p:txBody>
      </p:sp>
      <p:sp>
        <p:nvSpPr>
          <p:cNvPr id="224" name="Shape 222"/>
          <p:cNvSpPr/>
          <p:nvPr/>
        </p:nvSpPr>
        <p:spPr>
          <a:xfrm>
            <a:off x="7653528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7653528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26" name="Shape 224"/>
          <p:cNvSpPr/>
          <p:nvPr/>
        </p:nvSpPr>
        <p:spPr>
          <a:xfrm>
            <a:off x="4709160" y="3401568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4709160" y="34015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228" name="Shape 226"/>
          <p:cNvSpPr/>
          <p:nvPr/>
        </p:nvSpPr>
        <p:spPr>
          <a:xfrm>
            <a:off x="4910328" y="3401568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4910328" y="340156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ANTRN65</a:t>
            </a:r>
            <a:endParaRPr lang="en-US" sz="750" dirty="0"/>
          </a:p>
        </p:txBody>
      </p:sp>
      <p:sp>
        <p:nvSpPr>
          <p:cNvPr id="230" name="Shape 228"/>
          <p:cNvSpPr/>
          <p:nvPr/>
        </p:nvSpPr>
        <p:spPr>
          <a:xfrm>
            <a:off x="5696712" y="3401568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5696712" y="340156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232" name="Shape 230"/>
          <p:cNvSpPr/>
          <p:nvPr/>
        </p:nvSpPr>
        <p:spPr>
          <a:xfrm>
            <a:off x="6172200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6172200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1232.3</a:t>
            </a:r>
            <a:endParaRPr lang="en-US" sz="750" dirty="0"/>
          </a:p>
        </p:txBody>
      </p:sp>
      <p:sp>
        <p:nvSpPr>
          <p:cNvPr id="234" name="Shape 232"/>
          <p:cNvSpPr/>
          <p:nvPr/>
        </p:nvSpPr>
        <p:spPr>
          <a:xfrm>
            <a:off x="6665976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6665976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1230.0</a:t>
            </a:r>
            <a:endParaRPr lang="en-US" sz="750" dirty="0"/>
          </a:p>
        </p:txBody>
      </p:sp>
      <p:sp>
        <p:nvSpPr>
          <p:cNvPr id="236" name="Shape 234"/>
          <p:cNvSpPr/>
          <p:nvPr/>
        </p:nvSpPr>
        <p:spPr>
          <a:xfrm>
            <a:off x="7159752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7159752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+9.8°</a:t>
            </a:r>
            <a:endParaRPr lang="en-US" sz="750" dirty="0"/>
          </a:p>
        </p:txBody>
      </p:sp>
      <p:sp>
        <p:nvSpPr>
          <p:cNvPr id="238" name="Shape 236"/>
          <p:cNvSpPr/>
          <p:nvPr/>
        </p:nvSpPr>
        <p:spPr>
          <a:xfrm>
            <a:off x="7653528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7653528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40" name="Shape 238"/>
          <p:cNvSpPr/>
          <p:nvPr/>
        </p:nvSpPr>
        <p:spPr>
          <a:xfrm>
            <a:off x="4709160" y="3639312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4709160" y="36393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242" name="Shape 240"/>
          <p:cNvSpPr/>
          <p:nvPr/>
        </p:nvSpPr>
        <p:spPr>
          <a:xfrm>
            <a:off x="4910328" y="3639312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4910328" y="363931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ANTRN33</a:t>
            </a:r>
            <a:endParaRPr lang="en-US" sz="750" dirty="0"/>
          </a:p>
        </p:txBody>
      </p:sp>
      <p:sp>
        <p:nvSpPr>
          <p:cNvPr id="244" name="Shape 242"/>
          <p:cNvSpPr/>
          <p:nvPr/>
        </p:nvSpPr>
        <p:spPr>
          <a:xfrm>
            <a:off x="5696712" y="3639312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5696712" y="363931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246" name="Shape 244"/>
          <p:cNvSpPr/>
          <p:nvPr/>
        </p:nvSpPr>
        <p:spPr>
          <a:xfrm>
            <a:off x="6172200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6172200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1231.5</a:t>
            </a:r>
            <a:endParaRPr lang="en-US" sz="750" dirty="0"/>
          </a:p>
        </p:txBody>
      </p:sp>
      <p:sp>
        <p:nvSpPr>
          <p:cNvPr id="248" name="Shape 246"/>
          <p:cNvSpPr/>
          <p:nvPr/>
        </p:nvSpPr>
        <p:spPr>
          <a:xfrm>
            <a:off x="6665976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6665976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1229.2</a:t>
            </a:r>
            <a:endParaRPr lang="en-US" sz="750" dirty="0"/>
          </a:p>
        </p:txBody>
      </p:sp>
      <p:sp>
        <p:nvSpPr>
          <p:cNvPr id="250" name="Shape 248"/>
          <p:cNvSpPr/>
          <p:nvPr/>
        </p:nvSpPr>
        <p:spPr>
          <a:xfrm>
            <a:off x="7159752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7159752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+9.0°</a:t>
            </a:r>
            <a:endParaRPr lang="en-US" sz="750" dirty="0"/>
          </a:p>
        </p:txBody>
      </p:sp>
      <p:sp>
        <p:nvSpPr>
          <p:cNvPr id="252" name="Shape 250"/>
          <p:cNvSpPr/>
          <p:nvPr/>
        </p:nvSpPr>
        <p:spPr>
          <a:xfrm>
            <a:off x="7653528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7653528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54" name="Shape 252"/>
          <p:cNvSpPr/>
          <p:nvPr/>
        </p:nvSpPr>
        <p:spPr>
          <a:xfrm>
            <a:off x="4709160" y="3877056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4709160" y="38770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256" name="Shape 254"/>
          <p:cNvSpPr/>
          <p:nvPr/>
        </p:nvSpPr>
        <p:spPr>
          <a:xfrm>
            <a:off x="4910328" y="3877056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4910328" y="387705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ANTRK65</a:t>
            </a:r>
            <a:endParaRPr lang="en-US" sz="750" dirty="0"/>
          </a:p>
        </p:txBody>
      </p:sp>
      <p:sp>
        <p:nvSpPr>
          <p:cNvPr id="258" name="Shape 256"/>
          <p:cNvSpPr/>
          <p:nvPr/>
        </p:nvSpPr>
        <p:spPr>
          <a:xfrm>
            <a:off x="5696712" y="3877056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5696712" y="387705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260" name="Shape 258"/>
          <p:cNvSpPr/>
          <p:nvPr/>
        </p:nvSpPr>
        <p:spPr>
          <a:xfrm>
            <a:off x="6172200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6172200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1229.0</a:t>
            </a:r>
            <a:endParaRPr lang="en-US" sz="750" dirty="0"/>
          </a:p>
        </p:txBody>
      </p:sp>
      <p:sp>
        <p:nvSpPr>
          <p:cNvPr id="262" name="Shape 260"/>
          <p:cNvSpPr/>
          <p:nvPr/>
        </p:nvSpPr>
        <p:spPr>
          <a:xfrm>
            <a:off x="6665976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6665976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1226.7</a:t>
            </a:r>
            <a:endParaRPr lang="en-US" sz="750" dirty="0"/>
          </a:p>
        </p:txBody>
      </p:sp>
      <p:sp>
        <p:nvSpPr>
          <p:cNvPr id="264" name="Shape 262"/>
          <p:cNvSpPr/>
          <p:nvPr/>
        </p:nvSpPr>
        <p:spPr>
          <a:xfrm>
            <a:off x="7159752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7159752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+6.5°</a:t>
            </a:r>
            <a:endParaRPr lang="en-US" sz="750" dirty="0"/>
          </a:p>
        </p:txBody>
      </p:sp>
      <p:sp>
        <p:nvSpPr>
          <p:cNvPr id="266" name="Shape 264"/>
          <p:cNvSpPr/>
          <p:nvPr/>
        </p:nvSpPr>
        <p:spPr>
          <a:xfrm>
            <a:off x="7653528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7653528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68" name="Shape 266"/>
          <p:cNvSpPr/>
          <p:nvPr/>
        </p:nvSpPr>
        <p:spPr>
          <a:xfrm>
            <a:off x="4709160" y="4187952"/>
            <a:ext cx="9875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9" name="Shape 267"/>
          <p:cNvSpPr/>
          <p:nvPr/>
        </p:nvSpPr>
        <p:spPr>
          <a:xfrm>
            <a:off x="4709160" y="4187952"/>
            <a:ext cx="98755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4709160" y="4261104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1700" dirty="0"/>
          </a:p>
        </p:txBody>
      </p:sp>
      <p:sp>
        <p:nvSpPr>
          <p:cNvPr id="271" name="Text 269"/>
          <p:cNvSpPr/>
          <p:nvPr/>
        </p:nvSpPr>
        <p:spPr>
          <a:xfrm>
            <a:off x="4709160" y="459028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On-Target</a:t>
            </a:r>
            <a:endParaRPr lang="en-US" sz="800" dirty="0"/>
          </a:p>
        </p:txBody>
      </p:sp>
      <p:sp>
        <p:nvSpPr>
          <p:cNvPr id="272" name="Text 270"/>
          <p:cNvSpPr/>
          <p:nvPr/>
        </p:nvSpPr>
        <p:spPr>
          <a:xfrm>
            <a:off x="4709160" y="477316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15</a:t>
            </a:r>
            <a:endParaRPr lang="en-US" sz="800" dirty="0"/>
          </a:p>
        </p:txBody>
      </p:sp>
      <p:sp>
        <p:nvSpPr>
          <p:cNvPr id="273" name="Shape 271"/>
          <p:cNvSpPr/>
          <p:nvPr/>
        </p:nvSpPr>
        <p:spPr>
          <a:xfrm>
            <a:off x="5779008" y="4187952"/>
            <a:ext cx="9875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4" name="Shape 272"/>
          <p:cNvSpPr/>
          <p:nvPr/>
        </p:nvSpPr>
        <p:spPr>
          <a:xfrm>
            <a:off x="5779008" y="4187952"/>
            <a:ext cx="98755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5779008" y="4261104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</p:txBody>
      </p:sp>
      <p:sp>
        <p:nvSpPr>
          <p:cNvPr id="276" name="Text 274"/>
          <p:cNvSpPr/>
          <p:nvPr/>
        </p:nvSpPr>
        <p:spPr>
          <a:xfrm>
            <a:off x="5779008" y="459028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Slabs</a:t>
            </a:r>
            <a:endParaRPr lang="en-US" sz="800" dirty="0"/>
          </a:p>
        </p:txBody>
      </p:sp>
      <p:sp>
        <p:nvSpPr>
          <p:cNvPr id="277" name="Text 275"/>
          <p:cNvSpPr/>
          <p:nvPr/>
        </p:nvSpPr>
        <p:spPr>
          <a:xfrm>
            <a:off x="5779008" y="477316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0</a:t>
            </a:r>
            <a:endParaRPr lang="en-US" sz="800" dirty="0"/>
          </a:p>
        </p:txBody>
      </p:sp>
      <p:sp>
        <p:nvSpPr>
          <p:cNvPr id="278" name="Shape 276"/>
          <p:cNvSpPr/>
          <p:nvPr/>
        </p:nvSpPr>
        <p:spPr>
          <a:xfrm>
            <a:off x="6848856" y="4187952"/>
            <a:ext cx="9875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9" name="Shape 277"/>
          <p:cNvSpPr/>
          <p:nvPr/>
        </p:nvSpPr>
        <p:spPr>
          <a:xfrm>
            <a:off x="6848856" y="4187952"/>
            <a:ext cx="987552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6848856" y="4261104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+6.1°C</a:t>
            </a:r>
            <a:endParaRPr lang="en-US" sz="1700" dirty="0"/>
          </a:p>
        </p:txBody>
      </p:sp>
      <p:sp>
        <p:nvSpPr>
          <p:cNvPr id="281" name="Text 279"/>
          <p:cNvSpPr/>
          <p:nvPr/>
        </p:nvSpPr>
        <p:spPr>
          <a:xfrm>
            <a:off x="6848856" y="459028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Deviation</a:t>
            </a:r>
            <a:endParaRPr lang="en-US" sz="800" dirty="0"/>
          </a:p>
        </p:txBody>
      </p:sp>
      <p:sp>
        <p:nvSpPr>
          <p:cNvPr id="282" name="Text 280"/>
          <p:cNvSpPr/>
          <p:nvPr/>
        </p:nvSpPr>
        <p:spPr>
          <a:xfrm>
            <a:off x="6848856" y="477316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+8.4°C</a:t>
            </a:r>
            <a:endParaRPr lang="en-US" sz="800" dirty="0"/>
          </a:p>
        </p:txBody>
      </p:sp>
      <p:sp>
        <p:nvSpPr>
          <p:cNvPr id="283" name="Shape 281"/>
          <p:cNvSpPr/>
          <p:nvPr/>
        </p:nvSpPr>
        <p:spPr>
          <a:xfrm>
            <a:off x="7918704" y="4187952"/>
            <a:ext cx="9875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4" name="Shape 282"/>
          <p:cNvSpPr/>
          <p:nvPr/>
        </p:nvSpPr>
        <p:spPr>
          <a:xfrm>
            <a:off x="7918704" y="4187952"/>
            <a:ext cx="98755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7918704" y="4261104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412°C</a:t>
            </a:r>
            <a:endParaRPr lang="en-US" sz="1700" dirty="0"/>
          </a:p>
        </p:txBody>
      </p:sp>
      <p:sp>
        <p:nvSpPr>
          <p:cNvPr id="286" name="Text 284"/>
          <p:cNvSpPr/>
          <p:nvPr/>
        </p:nvSpPr>
        <p:spPr>
          <a:xfrm>
            <a:off x="7918704" y="459028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FGT</a:t>
            </a:r>
            <a:endParaRPr lang="en-US" sz="800" dirty="0"/>
          </a:p>
        </p:txBody>
      </p:sp>
      <p:sp>
        <p:nvSpPr>
          <p:cNvPr id="287" name="Text 285"/>
          <p:cNvSpPr/>
          <p:nvPr/>
        </p:nvSpPr>
        <p:spPr>
          <a:xfrm>
            <a:off x="7918704" y="477316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429.3°C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SCHEDULE 20252023  |  Thursday, 06 November 2025  |  Night Shift  |  14 SLABS  ▏  CURRENT STATE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09560" y="73152"/>
            <a:ext cx="1143000" cy="2743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9560" y="731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UNDER-FIRED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393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Grades: ANCRMB2 · ANTRNT5 · ANGEN02 · ANGENT6 · ANSCG27 · ANCRMB6  |  Thickness: 217–230mm  |  Discharge: 21:25–23:54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54864" cy="21945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8229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ZONE TEMPERATURES vs SETPOINT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06983"/>
            <a:ext cx="228600" cy="879017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1464447"/>
            <a:ext cx="228600" cy="821553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1235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6576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914400" y="1464710"/>
            <a:ext cx="228600" cy="821290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61288" y="1533982"/>
            <a:ext cx="228600" cy="752018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91440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1187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1440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463040" y="1328265"/>
            <a:ext cx="228600" cy="957735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09928" y="1344796"/>
            <a:ext cx="228600" cy="941204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46304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1259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46304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011680" y="1380744"/>
            <a:ext cx="228600" cy="905256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58568" y="1405147"/>
            <a:ext cx="228600" cy="880853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1245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01168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1236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01168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560320" y="1367624"/>
            <a:ext cx="228600" cy="918376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07208" y="1410919"/>
            <a:ext cx="228600" cy="875081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1250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56032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56032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108960" y="1383368"/>
            <a:ext cx="228600" cy="902632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55848" y="1421415"/>
            <a:ext cx="228600" cy="864585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1244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10896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10896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657600" y="1367624"/>
            <a:ext cx="228600" cy="918376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04488" y="1403047"/>
            <a:ext cx="228600" cy="882953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1250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65760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1237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65760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206240" y="1417479"/>
            <a:ext cx="228600" cy="868521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53128" y="1455788"/>
            <a:ext cx="228600" cy="830212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20624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1216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20624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20040" y="272491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SP (Blue)  ■ Actual (Orange)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0040" y="2944368"/>
            <a:ext cx="54864" cy="21945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9768" y="29443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PARAMETERS — CURRENT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7472" y="3182112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47472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21,785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347472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Fuel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47472" y="3566160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47472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11.304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347472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426464" y="3182112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1426464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5.79%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426464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O₂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426464" y="3566160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426464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5.65 Pa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426464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Furnace Prs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505456" y="3182112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2505456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31.4%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2505456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Damper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2505456" y="3566160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2505456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380.9°C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2505456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Chimney FGT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584448" y="3182112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3584448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min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3584448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 Preheat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584448" y="3566160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3584448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min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3584448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 Heating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681728" y="822960"/>
            <a:ext cx="54864" cy="21945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91456" y="8229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FCE DROPOUT — CURRENT STATE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709160" y="1042416"/>
            <a:ext cx="201168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09160" y="10424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910328" y="1042416"/>
            <a:ext cx="786384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10328" y="104241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5696712" y="1042416"/>
            <a:ext cx="329184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696712" y="104241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Thk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6025896" y="1042416"/>
            <a:ext cx="475488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025896" y="104241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Tgt°C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501384" y="1042416"/>
            <a:ext cx="493776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501384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FCE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995160" y="1042416"/>
            <a:ext cx="493776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995160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7488936" y="1042416"/>
            <a:ext cx="493776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488936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709160" y="1261872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709160" y="12618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910328" y="1261872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910328" y="12618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ANCRMB2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5696712" y="1261872"/>
            <a:ext cx="3291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96712" y="12618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6025896" y="1261872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025896" y="12618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501384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01384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1226.3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6995160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995160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-3.9°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7488936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488936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WARN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4709160" y="1499616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709160" y="1499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4910328" y="1499616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10328" y="149961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ANTRNT5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5696712" y="1499616"/>
            <a:ext cx="3291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96712" y="149961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6025896" y="1499616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025896" y="149961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6501384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501384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1226.1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6995160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995160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+5.9°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7488936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488936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4709160" y="1737360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709160" y="17373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4910328" y="1737360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910328" y="173736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ANTRNT5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5696712" y="1737360"/>
            <a:ext cx="3291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696712" y="173736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6025896" y="1737360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025896" y="173736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6501384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501384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1225.0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6995160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995160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+4.8°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7488936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488936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4709160" y="1975104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709160" y="19751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4910328" y="1975104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910328" y="19751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ANTRNT5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5696712" y="1975104"/>
            <a:ext cx="3291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696712" y="197510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6025896" y="1975104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025896" y="197510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6501384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501384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1226.1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6995160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995160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+6.0°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7488936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7488936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4709160" y="2212848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709160" y="221284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4910328" y="2212848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910328" y="221284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ANTRNT5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5696712" y="2212848"/>
            <a:ext cx="3291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696712" y="221284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6025896" y="2212848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025896" y="221284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6501384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6501384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1228.6</a:t>
            </a: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6995160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995160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+8.5°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7488936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7488936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4709160" y="2450592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709160" y="24505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4910328" y="2450592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910328" y="24505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ANTRNT5</a:t>
            </a: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5696712" y="2450592"/>
            <a:ext cx="3291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696712" y="24505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6025896" y="2450592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6025896" y="245059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6501384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6501384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1230.7</a:t>
            </a:r>
            <a:endParaRPr lang="en-US" sz="750" dirty="0"/>
          </a:p>
        </p:txBody>
      </p:sp>
      <p:sp>
        <p:nvSpPr>
          <p:cNvPr id="172" name="Shape 170"/>
          <p:cNvSpPr/>
          <p:nvPr/>
        </p:nvSpPr>
        <p:spPr>
          <a:xfrm>
            <a:off x="6995160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6995160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+10.6°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7488936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7488936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76" name="Shape 174"/>
          <p:cNvSpPr/>
          <p:nvPr/>
        </p:nvSpPr>
        <p:spPr>
          <a:xfrm>
            <a:off x="4709160" y="2688336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709160" y="26883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178" name="Shape 176"/>
          <p:cNvSpPr/>
          <p:nvPr/>
        </p:nvSpPr>
        <p:spPr>
          <a:xfrm>
            <a:off x="4910328" y="2688336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4910328" y="268833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ANGEN02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5696712" y="2688336"/>
            <a:ext cx="3291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5696712" y="268833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750" dirty="0"/>
          </a:p>
        </p:txBody>
      </p:sp>
      <p:sp>
        <p:nvSpPr>
          <p:cNvPr id="182" name="Shape 180"/>
          <p:cNvSpPr/>
          <p:nvPr/>
        </p:nvSpPr>
        <p:spPr>
          <a:xfrm>
            <a:off x="6025896" y="2688336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6025896" y="26883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6501384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6501384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1231.0</a:t>
            </a:r>
            <a:endParaRPr lang="en-US" sz="750" dirty="0"/>
          </a:p>
        </p:txBody>
      </p:sp>
      <p:sp>
        <p:nvSpPr>
          <p:cNvPr id="186" name="Shape 184"/>
          <p:cNvSpPr/>
          <p:nvPr/>
        </p:nvSpPr>
        <p:spPr>
          <a:xfrm>
            <a:off x="6995160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6995160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+0.8°</a:t>
            </a:r>
            <a:endParaRPr lang="en-US" sz="750" dirty="0"/>
          </a:p>
        </p:txBody>
      </p:sp>
      <p:sp>
        <p:nvSpPr>
          <p:cNvPr id="188" name="Shape 186"/>
          <p:cNvSpPr/>
          <p:nvPr/>
        </p:nvSpPr>
        <p:spPr>
          <a:xfrm>
            <a:off x="7488936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7488936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90" name="Shape 188"/>
          <p:cNvSpPr/>
          <p:nvPr/>
        </p:nvSpPr>
        <p:spPr>
          <a:xfrm>
            <a:off x="4709160" y="2926080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4709160" y="29260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910328" y="2926080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4910328" y="292608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ANGENT6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5696712" y="2926080"/>
            <a:ext cx="3291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5696712" y="29260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196" name="Shape 194"/>
          <p:cNvSpPr/>
          <p:nvPr/>
        </p:nvSpPr>
        <p:spPr>
          <a:xfrm>
            <a:off x="6025896" y="2926080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025896" y="292608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98" name="Shape 196"/>
          <p:cNvSpPr/>
          <p:nvPr/>
        </p:nvSpPr>
        <p:spPr>
          <a:xfrm>
            <a:off x="6501384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6501384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1232.8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995160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6995160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+2.6°</a:t>
            </a:r>
            <a:endParaRPr lang="en-US" sz="750" dirty="0"/>
          </a:p>
        </p:txBody>
      </p:sp>
      <p:sp>
        <p:nvSpPr>
          <p:cNvPr id="202" name="Shape 200"/>
          <p:cNvSpPr/>
          <p:nvPr/>
        </p:nvSpPr>
        <p:spPr>
          <a:xfrm>
            <a:off x="7488936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7488936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4709160" y="3163824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4709160" y="31638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4910328" y="3163824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4910328" y="316382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ANSCG27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>
            <a:off x="5696712" y="3163824"/>
            <a:ext cx="3291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5696712" y="316382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210" name="Shape 208"/>
          <p:cNvSpPr/>
          <p:nvPr/>
        </p:nvSpPr>
        <p:spPr>
          <a:xfrm>
            <a:off x="6025896" y="3163824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6025896" y="31638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212" name="Shape 210"/>
          <p:cNvSpPr/>
          <p:nvPr/>
        </p:nvSpPr>
        <p:spPr>
          <a:xfrm>
            <a:off x="6501384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6501384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1209.8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6995160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6995160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-20.4°</a:t>
            </a:r>
            <a:endParaRPr lang="en-US" sz="750" dirty="0"/>
          </a:p>
        </p:txBody>
      </p:sp>
      <p:sp>
        <p:nvSpPr>
          <p:cNvPr id="216" name="Shape 214"/>
          <p:cNvSpPr/>
          <p:nvPr/>
        </p:nvSpPr>
        <p:spPr>
          <a:xfrm>
            <a:off x="7488936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488936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FAIL</a:t>
            </a:r>
            <a:endParaRPr lang="en-US" sz="750" dirty="0"/>
          </a:p>
        </p:txBody>
      </p:sp>
      <p:sp>
        <p:nvSpPr>
          <p:cNvPr id="218" name="Shape 216"/>
          <p:cNvSpPr/>
          <p:nvPr/>
        </p:nvSpPr>
        <p:spPr>
          <a:xfrm>
            <a:off x="4709160" y="3401568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4709160" y="34015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220" name="Shape 218"/>
          <p:cNvSpPr/>
          <p:nvPr/>
        </p:nvSpPr>
        <p:spPr>
          <a:xfrm>
            <a:off x="4910328" y="3401568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4910328" y="340156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ANSCG27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5696712" y="3401568"/>
            <a:ext cx="3291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5696712" y="34015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224" name="Shape 222"/>
          <p:cNvSpPr/>
          <p:nvPr/>
        </p:nvSpPr>
        <p:spPr>
          <a:xfrm>
            <a:off x="6025896" y="3401568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6025896" y="340156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226" name="Shape 224"/>
          <p:cNvSpPr/>
          <p:nvPr/>
        </p:nvSpPr>
        <p:spPr>
          <a:xfrm>
            <a:off x="6501384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6501384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1207.0</a:t>
            </a:r>
            <a:endParaRPr lang="en-US" sz="750" dirty="0"/>
          </a:p>
        </p:txBody>
      </p:sp>
      <p:sp>
        <p:nvSpPr>
          <p:cNvPr id="228" name="Shape 226"/>
          <p:cNvSpPr/>
          <p:nvPr/>
        </p:nvSpPr>
        <p:spPr>
          <a:xfrm>
            <a:off x="6995160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6995160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-23.2°</a:t>
            </a:r>
            <a:endParaRPr lang="en-US" sz="750" dirty="0"/>
          </a:p>
        </p:txBody>
      </p:sp>
      <p:sp>
        <p:nvSpPr>
          <p:cNvPr id="230" name="Shape 228"/>
          <p:cNvSpPr/>
          <p:nvPr/>
        </p:nvSpPr>
        <p:spPr>
          <a:xfrm>
            <a:off x="7488936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7488936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FAIL</a:t>
            </a:r>
            <a:endParaRPr lang="en-US" sz="750" dirty="0"/>
          </a:p>
        </p:txBody>
      </p:sp>
      <p:sp>
        <p:nvSpPr>
          <p:cNvPr id="232" name="Shape 230"/>
          <p:cNvSpPr/>
          <p:nvPr/>
        </p:nvSpPr>
        <p:spPr>
          <a:xfrm>
            <a:off x="4709160" y="3639312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4709160" y="36393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234" name="Shape 232"/>
          <p:cNvSpPr/>
          <p:nvPr/>
        </p:nvSpPr>
        <p:spPr>
          <a:xfrm>
            <a:off x="4910328" y="3639312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4910328" y="363931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ANCRMB2</a:t>
            </a:r>
            <a:endParaRPr lang="en-US" sz="750" dirty="0"/>
          </a:p>
        </p:txBody>
      </p:sp>
      <p:sp>
        <p:nvSpPr>
          <p:cNvPr id="236" name="Shape 234"/>
          <p:cNvSpPr/>
          <p:nvPr/>
        </p:nvSpPr>
        <p:spPr>
          <a:xfrm>
            <a:off x="5696712" y="3639312"/>
            <a:ext cx="3291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5696712" y="36393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750" dirty="0"/>
          </a:p>
        </p:txBody>
      </p:sp>
      <p:sp>
        <p:nvSpPr>
          <p:cNvPr id="238" name="Shape 236"/>
          <p:cNvSpPr/>
          <p:nvPr/>
        </p:nvSpPr>
        <p:spPr>
          <a:xfrm>
            <a:off x="6025896" y="3639312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6025896" y="363931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240" name="Shape 238"/>
          <p:cNvSpPr/>
          <p:nvPr/>
        </p:nvSpPr>
        <p:spPr>
          <a:xfrm>
            <a:off x="6501384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6501384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1204.6</a:t>
            </a:r>
            <a:endParaRPr lang="en-US" sz="750" dirty="0"/>
          </a:p>
        </p:txBody>
      </p:sp>
      <p:sp>
        <p:nvSpPr>
          <p:cNvPr id="242" name="Shape 240"/>
          <p:cNvSpPr/>
          <p:nvPr/>
        </p:nvSpPr>
        <p:spPr>
          <a:xfrm>
            <a:off x="6995160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6995160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-25.6°</a:t>
            </a:r>
            <a:endParaRPr lang="en-US" sz="750" dirty="0"/>
          </a:p>
        </p:txBody>
      </p:sp>
      <p:sp>
        <p:nvSpPr>
          <p:cNvPr id="244" name="Shape 242"/>
          <p:cNvSpPr/>
          <p:nvPr/>
        </p:nvSpPr>
        <p:spPr>
          <a:xfrm>
            <a:off x="7488936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7488936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FAIL</a:t>
            </a:r>
            <a:endParaRPr lang="en-US" sz="750" dirty="0"/>
          </a:p>
        </p:txBody>
      </p:sp>
      <p:sp>
        <p:nvSpPr>
          <p:cNvPr id="246" name="Shape 244"/>
          <p:cNvSpPr/>
          <p:nvPr/>
        </p:nvSpPr>
        <p:spPr>
          <a:xfrm>
            <a:off x="4709160" y="3877056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4709160" y="38770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248" name="Shape 246"/>
          <p:cNvSpPr/>
          <p:nvPr/>
        </p:nvSpPr>
        <p:spPr>
          <a:xfrm>
            <a:off x="4910328" y="3877056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4910328" y="387705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ANCRMB2</a:t>
            </a:r>
            <a:endParaRPr lang="en-US" sz="750" dirty="0"/>
          </a:p>
        </p:txBody>
      </p:sp>
      <p:sp>
        <p:nvSpPr>
          <p:cNvPr id="250" name="Shape 248"/>
          <p:cNvSpPr/>
          <p:nvPr/>
        </p:nvSpPr>
        <p:spPr>
          <a:xfrm>
            <a:off x="5696712" y="3877056"/>
            <a:ext cx="3291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5696712" y="387705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750" dirty="0"/>
          </a:p>
        </p:txBody>
      </p:sp>
      <p:sp>
        <p:nvSpPr>
          <p:cNvPr id="252" name="Shape 250"/>
          <p:cNvSpPr/>
          <p:nvPr/>
        </p:nvSpPr>
        <p:spPr>
          <a:xfrm>
            <a:off x="6025896" y="3877056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6025896" y="387705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254" name="Shape 252"/>
          <p:cNvSpPr/>
          <p:nvPr/>
        </p:nvSpPr>
        <p:spPr>
          <a:xfrm>
            <a:off x="6501384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6501384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1208.5</a:t>
            </a:r>
            <a:endParaRPr lang="en-US" sz="750" dirty="0"/>
          </a:p>
        </p:txBody>
      </p:sp>
      <p:sp>
        <p:nvSpPr>
          <p:cNvPr id="256" name="Shape 254"/>
          <p:cNvSpPr/>
          <p:nvPr/>
        </p:nvSpPr>
        <p:spPr>
          <a:xfrm>
            <a:off x="6995160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6995160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-21.7°</a:t>
            </a:r>
            <a:endParaRPr lang="en-US" sz="750" dirty="0"/>
          </a:p>
        </p:txBody>
      </p:sp>
      <p:sp>
        <p:nvSpPr>
          <p:cNvPr id="258" name="Shape 256"/>
          <p:cNvSpPr/>
          <p:nvPr/>
        </p:nvSpPr>
        <p:spPr>
          <a:xfrm>
            <a:off x="7488936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7488936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FAIL</a:t>
            </a:r>
            <a:endParaRPr lang="en-US" sz="750" dirty="0"/>
          </a:p>
        </p:txBody>
      </p:sp>
      <p:sp>
        <p:nvSpPr>
          <p:cNvPr id="260" name="Text 258"/>
          <p:cNvSpPr/>
          <p:nvPr/>
        </p:nvSpPr>
        <p:spPr>
          <a:xfrm>
            <a:off x="4709160" y="4114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more slabs (see appendix)</a:t>
            </a:r>
            <a:endParaRPr lang="en-US" sz="800" dirty="0"/>
          </a:p>
        </p:txBody>
      </p:sp>
      <p:sp>
        <p:nvSpPr>
          <p:cNvPr id="261" name="Shape 259"/>
          <p:cNvSpPr/>
          <p:nvPr/>
        </p:nvSpPr>
        <p:spPr>
          <a:xfrm>
            <a:off x="4709160" y="4206240"/>
            <a:ext cx="9875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2" name="Shape 260"/>
          <p:cNvSpPr/>
          <p:nvPr/>
        </p:nvSpPr>
        <p:spPr>
          <a:xfrm>
            <a:off x="4709160" y="4206240"/>
            <a:ext cx="987552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4709160" y="427939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8/14</a:t>
            </a:r>
            <a:endParaRPr lang="en-US" sz="1800" dirty="0"/>
          </a:p>
        </p:txBody>
      </p:sp>
      <p:sp>
        <p:nvSpPr>
          <p:cNvPr id="264" name="Text 262"/>
          <p:cNvSpPr/>
          <p:nvPr/>
        </p:nvSpPr>
        <p:spPr>
          <a:xfrm>
            <a:off x="4709160" y="4626864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On-Target</a:t>
            </a:r>
            <a:endParaRPr lang="en-US" sz="800" dirty="0"/>
          </a:p>
        </p:txBody>
      </p:sp>
      <p:sp>
        <p:nvSpPr>
          <p:cNvPr id="265" name="Shape 263"/>
          <p:cNvSpPr/>
          <p:nvPr/>
        </p:nvSpPr>
        <p:spPr>
          <a:xfrm>
            <a:off x="5779008" y="4206240"/>
            <a:ext cx="9875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6" name="Shape 264"/>
          <p:cNvSpPr/>
          <p:nvPr/>
        </p:nvSpPr>
        <p:spPr>
          <a:xfrm>
            <a:off x="5779008" y="4206240"/>
            <a:ext cx="987552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5779008" y="427939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8" name="Text 266"/>
          <p:cNvSpPr/>
          <p:nvPr/>
        </p:nvSpPr>
        <p:spPr>
          <a:xfrm>
            <a:off x="5779008" y="4626864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00" dirty="0"/>
          </a:p>
        </p:txBody>
      </p:sp>
      <p:sp>
        <p:nvSpPr>
          <p:cNvPr id="269" name="Shape 267"/>
          <p:cNvSpPr/>
          <p:nvPr/>
        </p:nvSpPr>
        <p:spPr>
          <a:xfrm>
            <a:off x="6848856" y="4206240"/>
            <a:ext cx="9875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0" name="Shape 268"/>
          <p:cNvSpPr/>
          <p:nvPr/>
        </p:nvSpPr>
        <p:spPr>
          <a:xfrm>
            <a:off x="6848856" y="4206240"/>
            <a:ext cx="987552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6848856" y="427939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-5.1°C</a:t>
            </a:r>
            <a:endParaRPr lang="en-US" sz="1800" dirty="0"/>
          </a:p>
        </p:txBody>
      </p:sp>
      <p:sp>
        <p:nvSpPr>
          <p:cNvPr id="272" name="Text 270"/>
          <p:cNvSpPr/>
          <p:nvPr/>
        </p:nvSpPr>
        <p:spPr>
          <a:xfrm>
            <a:off x="6848856" y="4626864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Dev</a:t>
            </a:r>
            <a:endParaRPr lang="en-US" sz="800" dirty="0"/>
          </a:p>
        </p:txBody>
      </p:sp>
      <p:sp>
        <p:nvSpPr>
          <p:cNvPr id="273" name="Shape 271"/>
          <p:cNvSpPr/>
          <p:nvPr/>
        </p:nvSpPr>
        <p:spPr>
          <a:xfrm>
            <a:off x="7918704" y="4206240"/>
            <a:ext cx="9875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4" name="Shape 272"/>
          <p:cNvSpPr/>
          <p:nvPr/>
        </p:nvSpPr>
        <p:spPr>
          <a:xfrm>
            <a:off x="7918704" y="4206240"/>
            <a:ext cx="98755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7918704" y="427939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380.9°C</a:t>
            </a:r>
            <a:endParaRPr lang="en-US" sz="1800" dirty="0"/>
          </a:p>
        </p:txBody>
      </p:sp>
      <p:sp>
        <p:nvSpPr>
          <p:cNvPr id="276" name="Text 274"/>
          <p:cNvSpPr/>
          <p:nvPr/>
        </p:nvSpPr>
        <p:spPr>
          <a:xfrm>
            <a:off x="7918704" y="4626864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Chimney FGT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SCHEDULE 20252023  |  Thursday, 06 November 2025  |  Night Shift  |  14 SLABS  ▏  AI TARGET STATE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818120" y="45720"/>
            <a:ext cx="1234440" cy="34747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93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Action: UNDER-FIRED: RAISE Z3 +30°C, Z4 +20°C, Z7/Z8 +15°C. Reduce Z1/Z2 slightly. Max recipe 1230.2°C must be achieved.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54864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8229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SP — CURRENT vs MODEL OPTIMAL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06983"/>
            <a:ext cx="228600" cy="879017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1433223"/>
            <a:ext cx="228600" cy="852777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24103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1235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6576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1225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6576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914400" y="1464710"/>
            <a:ext cx="228600" cy="821290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1288" y="1490949"/>
            <a:ext cx="228600" cy="795051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28183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440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1440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1440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463040" y="1328265"/>
            <a:ext cx="228600" cy="957735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09928" y="1249547"/>
            <a:ext cx="228600" cy="1036453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1066667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6304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1265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46304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1295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46304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011680" y="1380744"/>
            <a:ext cx="228600" cy="905256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58568" y="1328265"/>
            <a:ext cx="228600" cy="957735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1145385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01168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1245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01168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1265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01168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560320" y="1367624"/>
            <a:ext cx="228600" cy="918376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07208" y="1357129"/>
            <a:ext cx="228600" cy="928871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0" y="1174249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56032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1250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56032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1254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56032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108960" y="1383368"/>
            <a:ext cx="228600" cy="902632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55848" y="1372872"/>
            <a:ext cx="228600" cy="913128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118999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10896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1244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10896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1248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10896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657600" y="1367624"/>
            <a:ext cx="228600" cy="918376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04488" y="1328265"/>
            <a:ext cx="228600" cy="957735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0" y="1145385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65760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1250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65760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1265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65760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206240" y="1417479"/>
            <a:ext cx="228600" cy="868521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53128" y="1385992"/>
            <a:ext cx="228600" cy="900008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0" y="120311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20624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20624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1243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20624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20040" y="272491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Current SP (Blue)  ■ Optimal SP (Green)  ΔSP shown above bars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0040" y="2944368"/>
            <a:ext cx="54864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9768" y="29443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PARAMETERS — TARGET STATE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47472" y="3182112"/>
            <a:ext cx="100584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347472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31,977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347472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(Model)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47472" y="3566160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347472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347472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 Target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426464" y="3182112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1426464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1426464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O₂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426464" y="3566160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426464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1426464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Pressure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505456" y="3182112"/>
            <a:ext cx="100584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2505456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2505456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Damper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505456" y="3566160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2505456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377.4°C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2505456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FGT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584448" y="3182112"/>
            <a:ext cx="100584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3584448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adj.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3584448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Saving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584448" y="3566160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3584448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1230.2°C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3584448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Target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681728" y="822960"/>
            <a:ext cx="54864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91456" y="8229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FCE DROPOUT — TARGET STATE (MODEL PREDICTED)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4709160" y="1042416"/>
            <a:ext cx="201168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09160" y="10424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910328" y="1042416"/>
            <a:ext cx="786384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10328" y="104241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5696712" y="1042416"/>
            <a:ext cx="475488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696712" y="104241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Tgt°C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6172200" y="1042416"/>
            <a:ext cx="493776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72200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 FCE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6665976" y="1042416"/>
            <a:ext cx="493776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665976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FCE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7159752" y="1042416"/>
            <a:ext cx="493776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159752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opt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7653528" y="1042416"/>
            <a:ext cx="493776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653528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4709160" y="1261872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709160" y="12618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910328" y="1261872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910328" y="12618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ANCRMB2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5696712" y="1261872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696712" y="12618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6172200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172200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1228.8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6665976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665976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1231.3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7159752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159752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+1.1°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7653528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653528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4709160" y="1499616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709160" y="1499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4910328" y="1499616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910328" y="149961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ANTRNT5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5696712" y="1499616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696712" y="149961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6172200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172200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1227.7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6665976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665976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7159752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159752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+10.0°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7653528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653528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4709160" y="1737360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709160" y="17373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4910328" y="1737360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910328" y="173736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ANTRNT5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5696712" y="1737360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696712" y="173736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6172200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172200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1228.9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6665976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665976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1231.4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7159752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159752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+11.2°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7653528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653528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4709160" y="1975104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709160" y="19751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4910328" y="1975104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910328" y="19751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ANTRNT5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5696712" y="1975104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5696712" y="197510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6172200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172200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1228.9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6665976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665976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1231.4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7159752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7159752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+11.2°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7653528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7653528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4709160" y="2212848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709160" y="221284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4910328" y="2212848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4910328" y="221284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ANTRNT5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5696712" y="2212848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5696712" y="221284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6172200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6172200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1228.9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6665976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665976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1231.4</a:t>
            </a: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7159752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7159752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+11.2°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7653528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653528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4709160" y="2450592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4709160" y="24505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172" name="Shape 170"/>
          <p:cNvSpPr/>
          <p:nvPr/>
        </p:nvSpPr>
        <p:spPr>
          <a:xfrm>
            <a:off x="4910328" y="2450592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910328" y="24505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ANTRNT5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5696712" y="2450592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5696712" y="245059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76" name="Shape 174"/>
          <p:cNvSpPr/>
          <p:nvPr/>
        </p:nvSpPr>
        <p:spPr>
          <a:xfrm>
            <a:off x="6172200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6172200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1228.6</a:t>
            </a:r>
            <a:endParaRPr lang="en-US" sz="750" dirty="0"/>
          </a:p>
        </p:txBody>
      </p:sp>
      <p:sp>
        <p:nvSpPr>
          <p:cNvPr id="178" name="Shape 176"/>
          <p:cNvSpPr/>
          <p:nvPr/>
        </p:nvSpPr>
        <p:spPr>
          <a:xfrm>
            <a:off x="6665976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6665976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1231.2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7159752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7159752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+11.0°</a:t>
            </a:r>
            <a:endParaRPr lang="en-US" sz="750" dirty="0"/>
          </a:p>
        </p:txBody>
      </p:sp>
      <p:sp>
        <p:nvSpPr>
          <p:cNvPr id="182" name="Shape 180"/>
          <p:cNvSpPr/>
          <p:nvPr/>
        </p:nvSpPr>
        <p:spPr>
          <a:xfrm>
            <a:off x="7653528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7653528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4709160" y="2688336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4709160" y="26883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186" name="Shape 184"/>
          <p:cNvSpPr/>
          <p:nvPr/>
        </p:nvSpPr>
        <p:spPr>
          <a:xfrm>
            <a:off x="4910328" y="2688336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4910328" y="268833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ANGEN02</a:t>
            </a:r>
            <a:endParaRPr lang="en-US" sz="750" dirty="0"/>
          </a:p>
        </p:txBody>
      </p:sp>
      <p:sp>
        <p:nvSpPr>
          <p:cNvPr id="188" name="Shape 186"/>
          <p:cNvSpPr/>
          <p:nvPr/>
        </p:nvSpPr>
        <p:spPr>
          <a:xfrm>
            <a:off x="5696712" y="2688336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5696712" y="26883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90" name="Shape 188"/>
          <p:cNvSpPr/>
          <p:nvPr/>
        </p:nvSpPr>
        <p:spPr>
          <a:xfrm>
            <a:off x="6172200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6172200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1232.0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6665976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665976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1234.5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7159752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7159752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+4.3°</a:t>
            </a:r>
            <a:endParaRPr lang="en-US" sz="750" dirty="0"/>
          </a:p>
        </p:txBody>
      </p:sp>
      <p:sp>
        <p:nvSpPr>
          <p:cNvPr id="196" name="Shape 194"/>
          <p:cNvSpPr/>
          <p:nvPr/>
        </p:nvSpPr>
        <p:spPr>
          <a:xfrm>
            <a:off x="7653528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7653528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98" name="Shape 196"/>
          <p:cNvSpPr/>
          <p:nvPr/>
        </p:nvSpPr>
        <p:spPr>
          <a:xfrm>
            <a:off x="4709160" y="2926080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709160" y="29260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4910328" y="2926080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4910328" y="292608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ANGENT6</a:t>
            </a:r>
            <a:endParaRPr lang="en-US" sz="750" dirty="0"/>
          </a:p>
        </p:txBody>
      </p:sp>
      <p:sp>
        <p:nvSpPr>
          <p:cNvPr id="202" name="Shape 200"/>
          <p:cNvSpPr/>
          <p:nvPr/>
        </p:nvSpPr>
        <p:spPr>
          <a:xfrm>
            <a:off x="5696712" y="2926080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5696712" y="292608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6172200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6172200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1233.3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6665976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6665976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1235.8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>
            <a:off x="7159752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7159752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+5.6°</a:t>
            </a:r>
            <a:endParaRPr lang="en-US" sz="750" dirty="0"/>
          </a:p>
        </p:txBody>
      </p:sp>
      <p:sp>
        <p:nvSpPr>
          <p:cNvPr id="210" name="Shape 208"/>
          <p:cNvSpPr/>
          <p:nvPr/>
        </p:nvSpPr>
        <p:spPr>
          <a:xfrm>
            <a:off x="7653528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7653528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12" name="Shape 210"/>
          <p:cNvSpPr/>
          <p:nvPr/>
        </p:nvSpPr>
        <p:spPr>
          <a:xfrm>
            <a:off x="4709160" y="3163824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4709160" y="31638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4910328" y="3163824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4910328" y="316382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ANSCG27</a:t>
            </a:r>
            <a:endParaRPr lang="en-US" sz="750" dirty="0"/>
          </a:p>
        </p:txBody>
      </p:sp>
      <p:sp>
        <p:nvSpPr>
          <p:cNvPr id="216" name="Shape 214"/>
          <p:cNvSpPr/>
          <p:nvPr/>
        </p:nvSpPr>
        <p:spPr>
          <a:xfrm>
            <a:off x="5696712" y="3163824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5696712" y="31638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218" name="Shape 216"/>
          <p:cNvSpPr/>
          <p:nvPr/>
        </p:nvSpPr>
        <p:spPr>
          <a:xfrm>
            <a:off x="6172200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6172200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1232.8</a:t>
            </a:r>
            <a:endParaRPr lang="en-US" sz="750" dirty="0"/>
          </a:p>
        </p:txBody>
      </p:sp>
      <p:sp>
        <p:nvSpPr>
          <p:cNvPr id="220" name="Shape 218"/>
          <p:cNvSpPr/>
          <p:nvPr/>
        </p:nvSpPr>
        <p:spPr>
          <a:xfrm>
            <a:off x="6665976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6665976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1235.3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7159752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7159752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+5.1°</a:t>
            </a:r>
            <a:endParaRPr lang="en-US" sz="750" dirty="0"/>
          </a:p>
        </p:txBody>
      </p:sp>
      <p:sp>
        <p:nvSpPr>
          <p:cNvPr id="224" name="Shape 222"/>
          <p:cNvSpPr/>
          <p:nvPr/>
        </p:nvSpPr>
        <p:spPr>
          <a:xfrm>
            <a:off x="7653528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7653528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26" name="Shape 224"/>
          <p:cNvSpPr/>
          <p:nvPr/>
        </p:nvSpPr>
        <p:spPr>
          <a:xfrm>
            <a:off x="4709160" y="3401568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4709160" y="34015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228" name="Shape 226"/>
          <p:cNvSpPr/>
          <p:nvPr/>
        </p:nvSpPr>
        <p:spPr>
          <a:xfrm>
            <a:off x="4910328" y="3401568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4910328" y="340156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ANSCG27</a:t>
            </a:r>
            <a:endParaRPr lang="en-US" sz="750" dirty="0"/>
          </a:p>
        </p:txBody>
      </p:sp>
      <p:sp>
        <p:nvSpPr>
          <p:cNvPr id="230" name="Shape 228"/>
          <p:cNvSpPr/>
          <p:nvPr/>
        </p:nvSpPr>
        <p:spPr>
          <a:xfrm>
            <a:off x="5696712" y="3401568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5696712" y="340156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232" name="Shape 230"/>
          <p:cNvSpPr/>
          <p:nvPr/>
        </p:nvSpPr>
        <p:spPr>
          <a:xfrm>
            <a:off x="6172200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6172200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1232.8</a:t>
            </a:r>
            <a:endParaRPr lang="en-US" sz="750" dirty="0"/>
          </a:p>
        </p:txBody>
      </p:sp>
      <p:sp>
        <p:nvSpPr>
          <p:cNvPr id="234" name="Shape 232"/>
          <p:cNvSpPr/>
          <p:nvPr/>
        </p:nvSpPr>
        <p:spPr>
          <a:xfrm>
            <a:off x="6665976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6665976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1235.3</a:t>
            </a:r>
            <a:endParaRPr lang="en-US" sz="750" dirty="0"/>
          </a:p>
        </p:txBody>
      </p:sp>
      <p:sp>
        <p:nvSpPr>
          <p:cNvPr id="236" name="Shape 234"/>
          <p:cNvSpPr/>
          <p:nvPr/>
        </p:nvSpPr>
        <p:spPr>
          <a:xfrm>
            <a:off x="7159752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7159752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+5.1°</a:t>
            </a:r>
            <a:endParaRPr lang="en-US" sz="750" dirty="0"/>
          </a:p>
        </p:txBody>
      </p:sp>
      <p:sp>
        <p:nvSpPr>
          <p:cNvPr id="238" name="Shape 236"/>
          <p:cNvSpPr/>
          <p:nvPr/>
        </p:nvSpPr>
        <p:spPr>
          <a:xfrm>
            <a:off x="7653528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7653528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40" name="Shape 238"/>
          <p:cNvSpPr/>
          <p:nvPr/>
        </p:nvSpPr>
        <p:spPr>
          <a:xfrm>
            <a:off x="4709160" y="3639312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4709160" y="36393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242" name="Shape 240"/>
          <p:cNvSpPr/>
          <p:nvPr/>
        </p:nvSpPr>
        <p:spPr>
          <a:xfrm>
            <a:off x="4910328" y="3639312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4910328" y="363931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ANCRMB2</a:t>
            </a:r>
            <a:endParaRPr lang="en-US" sz="750" dirty="0"/>
          </a:p>
        </p:txBody>
      </p:sp>
      <p:sp>
        <p:nvSpPr>
          <p:cNvPr id="244" name="Shape 242"/>
          <p:cNvSpPr/>
          <p:nvPr/>
        </p:nvSpPr>
        <p:spPr>
          <a:xfrm>
            <a:off x="5696712" y="3639312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5696712" y="363931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246" name="Shape 244"/>
          <p:cNvSpPr/>
          <p:nvPr/>
        </p:nvSpPr>
        <p:spPr>
          <a:xfrm>
            <a:off x="6172200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6172200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1228.7</a:t>
            </a:r>
            <a:endParaRPr lang="en-US" sz="750" dirty="0"/>
          </a:p>
        </p:txBody>
      </p:sp>
      <p:sp>
        <p:nvSpPr>
          <p:cNvPr id="248" name="Shape 246"/>
          <p:cNvSpPr/>
          <p:nvPr/>
        </p:nvSpPr>
        <p:spPr>
          <a:xfrm>
            <a:off x="6665976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6665976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1231.2</a:t>
            </a:r>
            <a:endParaRPr lang="en-US" sz="750" dirty="0"/>
          </a:p>
        </p:txBody>
      </p:sp>
      <p:sp>
        <p:nvSpPr>
          <p:cNvPr id="250" name="Shape 248"/>
          <p:cNvSpPr/>
          <p:nvPr/>
        </p:nvSpPr>
        <p:spPr>
          <a:xfrm>
            <a:off x="7159752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7159752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+1.0°</a:t>
            </a:r>
            <a:endParaRPr lang="en-US" sz="750" dirty="0"/>
          </a:p>
        </p:txBody>
      </p:sp>
      <p:sp>
        <p:nvSpPr>
          <p:cNvPr id="252" name="Shape 250"/>
          <p:cNvSpPr/>
          <p:nvPr/>
        </p:nvSpPr>
        <p:spPr>
          <a:xfrm>
            <a:off x="7653528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7653528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54" name="Shape 252"/>
          <p:cNvSpPr/>
          <p:nvPr/>
        </p:nvSpPr>
        <p:spPr>
          <a:xfrm>
            <a:off x="4709160" y="3877056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4709160" y="38770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256" name="Shape 254"/>
          <p:cNvSpPr/>
          <p:nvPr/>
        </p:nvSpPr>
        <p:spPr>
          <a:xfrm>
            <a:off x="4910328" y="3877056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4910328" y="387705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ANCRMB2</a:t>
            </a:r>
            <a:endParaRPr lang="en-US" sz="750" dirty="0"/>
          </a:p>
        </p:txBody>
      </p:sp>
      <p:sp>
        <p:nvSpPr>
          <p:cNvPr id="258" name="Shape 256"/>
          <p:cNvSpPr/>
          <p:nvPr/>
        </p:nvSpPr>
        <p:spPr>
          <a:xfrm>
            <a:off x="5696712" y="3877056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5696712" y="387705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260" name="Shape 258"/>
          <p:cNvSpPr/>
          <p:nvPr/>
        </p:nvSpPr>
        <p:spPr>
          <a:xfrm>
            <a:off x="6172200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6172200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1228.7</a:t>
            </a:r>
            <a:endParaRPr lang="en-US" sz="750" dirty="0"/>
          </a:p>
        </p:txBody>
      </p:sp>
      <p:sp>
        <p:nvSpPr>
          <p:cNvPr id="262" name="Shape 260"/>
          <p:cNvSpPr/>
          <p:nvPr/>
        </p:nvSpPr>
        <p:spPr>
          <a:xfrm>
            <a:off x="6665976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6665976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1231.2</a:t>
            </a:r>
            <a:endParaRPr lang="en-US" sz="750" dirty="0"/>
          </a:p>
        </p:txBody>
      </p:sp>
      <p:sp>
        <p:nvSpPr>
          <p:cNvPr id="264" name="Shape 262"/>
          <p:cNvSpPr/>
          <p:nvPr/>
        </p:nvSpPr>
        <p:spPr>
          <a:xfrm>
            <a:off x="7159752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7159752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+1.0°</a:t>
            </a:r>
            <a:endParaRPr lang="en-US" sz="750" dirty="0"/>
          </a:p>
        </p:txBody>
      </p:sp>
      <p:sp>
        <p:nvSpPr>
          <p:cNvPr id="266" name="Shape 264"/>
          <p:cNvSpPr/>
          <p:nvPr/>
        </p:nvSpPr>
        <p:spPr>
          <a:xfrm>
            <a:off x="7653528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7653528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68" name="Shape 266"/>
          <p:cNvSpPr/>
          <p:nvPr/>
        </p:nvSpPr>
        <p:spPr>
          <a:xfrm>
            <a:off x="4709160" y="4187952"/>
            <a:ext cx="9875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9" name="Shape 267"/>
          <p:cNvSpPr/>
          <p:nvPr/>
        </p:nvSpPr>
        <p:spPr>
          <a:xfrm>
            <a:off x="4709160" y="4187952"/>
            <a:ext cx="98755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4709160" y="4261104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1700" dirty="0"/>
          </a:p>
        </p:txBody>
      </p:sp>
      <p:sp>
        <p:nvSpPr>
          <p:cNvPr id="271" name="Text 269"/>
          <p:cNvSpPr/>
          <p:nvPr/>
        </p:nvSpPr>
        <p:spPr>
          <a:xfrm>
            <a:off x="4709160" y="459028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On-Target</a:t>
            </a:r>
            <a:endParaRPr lang="en-US" sz="800" dirty="0"/>
          </a:p>
        </p:txBody>
      </p:sp>
      <p:sp>
        <p:nvSpPr>
          <p:cNvPr id="272" name="Text 270"/>
          <p:cNvSpPr/>
          <p:nvPr/>
        </p:nvSpPr>
        <p:spPr>
          <a:xfrm>
            <a:off x="4709160" y="477316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14</a:t>
            </a:r>
            <a:endParaRPr lang="en-US" sz="800" dirty="0"/>
          </a:p>
        </p:txBody>
      </p:sp>
      <p:sp>
        <p:nvSpPr>
          <p:cNvPr id="273" name="Shape 271"/>
          <p:cNvSpPr/>
          <p:nvPr/>
        </p:nvSpPr>
        <p:spPr>
          <a:xfrm>
            <a:off x="5779008" y="4187952"/>
            <a:ext cx="9875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4" name="Shape 272"/>
          <p:cNvSpPr/>
          <p:nvPr/>
        </p:nvSpPr>
        <p:spPr>
          <a:xfrm>
            <a:off x="5779008" y="4187952"/>
            <a:ext cx="98755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5779008" y="4261104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</p:txBody>
      </p:sp>
      <p:sp>
        <p:nvSpPr>
          <p:cNvPr id="276" name="Text 274"/>
          <p:cNvSpPr/>
          <p:nvPr/>
        </p:nvSpPr>
        <p:spPr>
          <a:xfrm>
            <a:off x="5779008" y="459028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Slabs</a:t>
            </a:r>
            <a:endParaRPr lang="en-US" sz="800" dirty="0"/>
          </a:p>
        </p:txBody>
      </p:sp>
      <p:sp>
        <p:nvSpPr>
          <p:cNvPr id="277" name="Text 275"/>
          <p:cNvSpPr/>
          <p:nvPr/>
        </p:nvSpPr>
        <p:spPr>
          <a:xfrm>
            <a:off x="5779008" y="477316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0</a:t>
            </a:r>
            <a:endParaRPr lang="en-US" sz="800" dirty="0"/>
          </a:p>
        </p:txBody>
      </p:sp>
      <p:sp>
        <p:nvSpPr>
          <p:cNvPr id="278" name="Shape 276"/>
          <p:cNvSpPr/>
          <p:nvPr/>
        </p:nvSpPr>
        <p:spPr>
          <a:xfrm>
            <a:off x="6848856" y="4187952"/>
            <a:ext cx="9875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9" name="Shape 277"/>
          <p:cNvSpPr/>
          <p:nvPr/>
        </p:nvSpPr>
        <p:spPr>
          <a:xfrm>
            <a:off x="6848856" y="4187952"/>
            <a:ext cx="987552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6848856" y="4261104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+6.1°C</a:t>
            </a:r>
            <a:endParaRPr lang="en-US" sz="1700" dirty="0"/>
          </a:p>
        </p:txBody>
      </p:sp>
      <p:sp>
        <p:nvSpPr>
          <p:cNvPr id="281" name="Text 279"/>
          <p:cNvSpPr/>
          <p:nvPr/>
        </p:nvSpPr>
        <p:spPr>
          <a:xfrm>
            <a:off x="6848856" y="459028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Deviation</a:t>
            </a:r>
            <a:endParaRPr lang="en-US" sz="800" dirty="0"/>
          </a:p>
        </p:txBody>
      </p:sp>
      <p:sp>
        <p:nvSpPr>
          <p:cNvPr id="282" name="Text 280"/>
          <p:cNvSpPr/>
          <p:nvPr/>
        </p:nvSpPr>
        <p:spPr>
          <a:xfrm>
            <a:off x="6848856" y="477316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+3.6°C</a:t>
            </a:r>
            <a:endParaRPr lang="en-US" sz="800" dirty="0"/>
          </a:p>
        </p:txBody>
      </p:sp>
      <p:sp>
        <p:nvSpPr>
          <p:cNvPr id="283" name="Shape 281"/>
          <p:cNvSpPr/>
          <p:nvPr/>
        </p:nvSpPr>
        <p:spPr>
          <a:xfrm>
            <a:off x="7918704" y="4187952"/>
            <a:ext cx="9875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4" name="Shape 282"/>
          <p:cNvSpPr/>
          <p:nvPr/>
        </p:nvSpPr>
        <p:spPr>
          <a:xfrm>
            <a:off x="7918704" y="4187952"/>
            <a:ext cx="98755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7918704" y="4261104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377.4°C</a:t>
            </a:r>
            <a:endParaRPr lang="en-US" sz="1700" dirty="0"/>
          </a:p>
        </p:txBody>
      </p:sp>
      <p:sp>
        <p:nvSpPr>
          <p:cNvPr id="286" name="Text 284"/>
          <p:cNvSpPr/>
          <p:nvPr/>
        </p:nvSpPr>
        <p:spPr>
          <a:xfrm>
            <a:off x="7918704" y="459028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FGT</a:t>
            </a:r>
            <a:endParaRPr lang="en-US" sz="800" dirty="0"/>
          </a:p>
        </p:txBody>
      </p:sp>
      <p:sp>
        <p:nvSpPr>
          <p:cNvPr id="287" name="Text 285"/>
          <p:cNvSpPr/>
          <p:nvPr/>
        </p:nvSpPr>
        <p:spPr>
          <a:xfrm>
            <a:off x="7918704" y="477316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380.9°C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SCHEDULE 20252089  |  Sunday, 16 November 2025  |  Afternoon Shift  |  13 SLABS  ▏  CURRENT STATE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09560" y="73152"/>
            <a:ext cx="1143000" cy="2743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9560" y="731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SEVERELY OVER-FIRED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393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Grades: ANCRMB6 · ANEDG02 · ANEDD02 · ANTRW04 · ANTRN37 · ANTRS65  |  Thickness: 210–220mm  |  Discharge: 13:18–14:12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54864" cy="21945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8229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ZONE TEMPERATURES vs SETPOINT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370248"/>
            <a:ext cx="228600" cy="915752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1427712"/>
            <a:ext cx="228600" cy="858288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1249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6576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1227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914400" y="1414855"/>
            <a:ext cx="228600" cy="871145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61288" y="1483340"/>
            <a:ext cx="228600" cy="802660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91440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1206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1440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463040" y="1296778"/>
            <a:ext cx="228600" cy="989222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09928" y="1312784"/>
            <a:ext cx="228600" cy="973216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1277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46304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1271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46304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011680" y="1333513"/>
            <a:ext cx="228600" cy="952487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58568" y="1358178"/>
            <a:ext cx="228600" cy="927822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01168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1254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01168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560320" y="1346633"/>
            <a:ext cx="228600" cy="939367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07208" y="1388878"/>
            <a:ext cx="228600" cy="897122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1258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56032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1242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56032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108960" y="1346633"/>
            <a:ext cx="228600" cy="939367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55848" y="1383106"/>
            <a:ext cx="228600" cy="902894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1258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10896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1244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10896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657600" y="1365000"/>
            <a:ext cx="228600" cy="921000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04488" y="1398849"/>
            <a:ext cx="228600" cy="887151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65760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1238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65760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206240" y="1362376"/>
            <a:ext cx="228600" cy="923624"/>
          </a:xfrm>
          <a:prstGeom prst="rect">
            <a:avLst/>
          </a:prstGeom>
          <a:solidFill>
            <a:srgbClr val="0F4C81">
              <a:alpha val="40000"/>
            </a:srgbClr>
          </a:solidFill>
          <a:ln w="12700">
            <a:solidFill>
              <a:srgbClr val="0F4C81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53128" y="1402523"/>
            <a:ext cx="228600" cy="883477"/>
          </a:xfrm>
          <a:prstGeom prst="rect">
            <a:avLst/>
          </a:prstGeom>
          <a:solidFill>
            <a:srgbClr val="C2410C">
              <a:alpha val="70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1252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20624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1237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20624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20040" y="272491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SP (Blue)  ■ Actual (Orange)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0040" y="2944368"/>
            <a:ext cx="54864" cy="21945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9768" y="29443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PARAMETERS — CURRENT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7472" y="3182112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47472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27,006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347472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Fuel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47472" y="3566160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47472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11.058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347472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426464" y="3182112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1426464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5.96%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426464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O₂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426464" y="3566160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426464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3.68 Pa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426464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Furnace Prs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505456" y="3182112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2505456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39.1%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2505456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Damper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2505456" y="3566160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2505456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421.6°C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2505456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Chimney FGT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584448" y="3182112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3584448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 min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3584448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 Preheat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584448" y="3566160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3584448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min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3584448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 Heating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681728" y="822960"/>
            <a:ext cx="54864" cy="21945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91456" y="8229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FCE DROPOUT — CURRENT STATE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709160" y="1042416"/>
            <a:ext cx="201168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09160" y="10424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910328" y="1042416"/>
            <a:ext cx="786384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10328" y="104241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5696712" y="1042416"/>
            <a:ext cx="329184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696712" y="104241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Thk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6025896" y="1042416"/>
            <a:ext cx="475488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025896" y="104241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Tgt°C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501384" y="1042416"/>
            <a:ext cx="493776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501384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FCE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995160" y="1042416"/>
            <a:ext cx="493776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995160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7488936" y="1042416"/>
            <a:ext cx="493776" cy="21945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488936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709160" y="1261872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709160" y="12618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910328" y="1261872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910328" y="12618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ANCRMB6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5696712" y="1261872"/>
            <a:ext cx="3291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96712" y="12618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6025896" y="1261872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025896" y="12618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501384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01384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1248.6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6995160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995160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+18.5°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7488936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488936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4709160" y="1499616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709160" y="1499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4910328" y="1499616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10328" y="149961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ANEDG02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5696712" y="1499616"/>
            <a:ext cx="3291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96712" y="149961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6025896" y="1499616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025896" y="149961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6501384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501384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1246.0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6995160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995160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+15.9°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7488936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488936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4709160" y="1737360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709160" y="17373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4910328" y="1737360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910328" y="173736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ANEDD02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5696712" y="1737360"/>
            <a:ext cx="3291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696712" y="173736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6025896" y="1737360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025896" y="173736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6501384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501384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1240.9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6995160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995160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+20.8°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7488936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488936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4709160" y="1975104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709160" y="19751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4910328" y="1975104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910328" y="19751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ANEDD02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5696712" y="1975104"/>
            <a:ext cx="3291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696712" y="197510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6025896" y="1975104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025896" y="197510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6501384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501384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1237.4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6995160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995160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+17.2°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7488936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7488936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4709160" y="2212848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709160" y="221284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4910328" y="2212848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910328" y="221284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ANEDD02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5696712" y="2212848"/>
            <a:ext cx="3291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696712" y="221284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6025896" y="2212848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025896" y="221284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6501384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6501384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1233.7</a:t>
            </a: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6995160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995160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+13.6°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7488936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7488936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4709160" y="2450592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709160" y="24505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4910328" y="2450592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910328" y="24505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ANCRMB6</a:t>
            </a: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5696712" y="2450592"/>
            <a:ext cx="3291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696712" y="24505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6025896" y="2450592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6025896" y="245059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6501384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6501384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1231.6</a:t>
            </a:r>
            <a:endParaRPr lang="en-US" sz="750" dirty="0"/>
          </a:p>
        </p:txBody>
      </p:sp>
      <p:sp>
        <p:nvSpPr>
          <p:cNvPr id="172" name="Shape 170"/>
          <p:cNvSpPr/>
          <p:nvPr/>
        </p:nvSpPr>
        <p:spPr>
          <a:xfrm>
            <a:off x="6995160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6995160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+11.4°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7488936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7488936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76" name="Shape 174"/>
          <p:cNvSpPr/>
          <p:nvPr/>
        </p:nvSpPr>
        <p:spPr>
          <a:xfrm>
            <a:off x="4709160" y="2688336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709160" y="26883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178" name="Shape 176"/>
          <p:cNvSpPr/>
          <p:nvPr/>
        </p:nvSpPr>
        <p:spPr>
          <a:xfrm>
            <a:off x="4910328" y="2688336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4910328" y="268833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ANCRMB6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5696712" y="2688336"/>
            <a:ext cx="3291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5696712" y="268833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750" dirty="0"/>
          </a:p>
        </p:txBody>
      </p:sp>
      <p:sp>
        <p:nvSpPr>
          <p:cNvPr id="182" name="Shape 180"/>
          <p:cNvSpPr/>
          <p:nvPr/>
        </p:nvSpPr>
        <p:spPr>
          <a:xfrm>
            <a:off x="6025896" y="2688336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6025896" y="26883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6501384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6501384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1228.6</a:t>
            </a:r>
            <a:endParaRPr lang="en-US" sz="750" dirty="0"/>
          </a:p>
        </p:txBody>
      </p:sp>
      <p:sp>
        <p:nvSpPr>
          <p:cNvPr id="186" name="Shape 184"/>
          <p:cNvSpPr/>
          <p:nvPr/>
        </p:nvSpPr>
        <p:spPr>
          <a:xfrm>
            <a:off x="6995160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6995160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+8.4°</a:t>
            </a:r>
            <a:endParaRPr lang="en-US" sz="750" dirty="0"/>
          </a:p>
        </p:txBody>
      </p:sp>
      <p:sp>
        <p:nvSpPr>
          <p:cNvPr id="188" name="Shape 186"/>
          <p:cNvSpPr/>
          <p:nvPr/>
        </p:nvSpPr>
        <p:spPr>
          <a:xfrm>
            <a:off x="7488936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7488936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90" name="Shape 188"/>
          <p:cNvSpPr/>
          <p:nvPr/>
        </p:nvSpPr>
        <p:spPr>
          <a:xfrm>
            <a:off x="4709160" y="2926080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4709160" y="29260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910328" y="2926080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4910328" y="292608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ANCRMB6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5696712" y="2926080"/>
            <a:ext cx="3291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5696712" y="29260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750" dirty="0"/>
          </a:p>
        </p:txBody>
      </p:sp>
      <p:sp>
        <p:nvSpPr>
          <p:cNvPr id="196" name="Shape 194"/>
          <p:cNvSpPr/>
          <p:nvPr/>
        </p:nvSpPr>
        <p:spPr>
          <a:xfrm>
            <a:off x="6025896" y="2926080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025896" y="292608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98" name="Shape 196"/>
          <p:cNvSpPr/>
          <p:nvPr/>
        </p:nvSpPr>
        <p:spPr>
          <a:xfrm>
            <a:off x="6501384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6501384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1226.0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995160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6995160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+5.8°</a:t>
            </a:r>
            <a:endParaRPr lang="en-US" sz="750" dirty="0"/>
          </a:p>
        </p:txBody>
      </p:sp>
      <p:sp>
        <p:nvSpPr>
          <p:cNvPr id="202" name="Shape 200"/>
          <p:cNvSpPr/>
          <p:nvPr/>
        </p:nvSpPr>
        <p:spPr>
          <a:xfrm>
            <a:off x="7488936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7488936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4709160" y="3163824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4709160" y="31638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4910328" y="3163824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4910328" y="316382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ANTRW04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>
            <a:off x="5696712" y="3163824"/>
            <a:ext cx="3291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5696712" y="316382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210" name="Shape 208"/>
          <p:cNvSpPr/>
          <p:nvPr/>
        </p:nvSpPr>
        <p:spPr>
          <a:xfrm>
            <a:off x="6025896" y="3163824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6025896" y="31638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212" name="Shape 210"/>
          <p:cNvSpPr/>
          <p:nvPr/>
        </p:nvSpPr>
        <p:spPr>
          <a:xfrm>
            <a:off x="6501384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6501384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1225.5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6995160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6995160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+5.3°</a:t>
            </a:r>
            <a:endParaRPr lang="en-US" sz="750" dirty="0"/>
          </a:p>
        </p:txBody>
      </p:sp>
      <p:sp>
        <p:nvSpPr>
          <p:cNvPr id="216" name="Shape 214"/>
          <p:cNvSpPr/>
          <p:nvPr/>
        </p:nvSpPr>
        <p:spPr>
          <a:xfrm>
            <a:off x="7488936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488936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18" name="Shape 216"/>
          <p:cNvSpPr/>
          <p:nvPr/>
        </p:nvSpPr>
        <p:spPr>
          <a:xfrm>
            <a:off x="4709160" y="3401568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4709160" y="34015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220" name="Shape 218"/>
          <p:cNvSpPr/>
          <p:nvPr/>
        </p:nvSpPr>
        <p:spPr>
          <a:xfrm>
            <a:off x="4910328" y="3401568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4910328" y="340156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ANTRN37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5696712" y="3401568"/>
            <a:ext cx="3291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5696712" y="34015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750" dirty="0"/>
          </a:p>
        </p:txBody>
      </p:sp>
      <p:sp>
        <p:nvSpPr>
          <p:cNvPr id="224" name="Shape 222"/>
          <p:cNvSpPr/>
          <p:nvPr/>
        </p:nvSpPr>
        <p:spPr>
          <a:xfrm>
            <a:off x="6025896" y="3401568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6025896" y="340156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226" name="Shape 224"/>
          <p:cNvSpPr/>
          <p:nvPr/>
        </p:nvSpPr>
        <p:spPr>
          <a:xfrm>
            <a:off x="6501384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6501384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1224.6</a:t>
            </a:r>
            <a:endParaRPr lang="en-US" sz="750" dirty="0"/>
          </a:p>
        </p:txBody>
      </p:sp>
      <p:sp>
        <p:nvSpPr>
          <p:cNvPr id="228" name="Shape 226"/>
          <p:cNvSpPr/>
          <p:nvPr/>
        </p:nvSpPr>
        <p:spPr>
          <a:xfrm>
            <a:off x="6995160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6995160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+4.5°</a:t>
            </a:r>
            <a:endParaRPr lang="en-US" sz="750" dirty="0"/>
          </a:p>
        </p:txBody>
      </p:sp>
      <p:sp>
        <p:nvSpPr>
          <p:cNvPr id="230" name="Shape 228"/>
          <p:cNvSpPr/>
          <p:nvPr/>
        </p:nvSpPr>
        <p:spPr>
          <a:xfrm>
            <a:off x="7488936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7488936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32" name="Shape 230"/>
          <p:cNvSpPr/>
          <p:nvPr/>
        </p:nvSpPr>
        <p:spPr>
          <a:xfrm>
            <a:off x="4709160" y="3639312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4709160" y="36393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234" name="Shape 232"/>
          <p:cNvSpPr/>
          <p:nvPr/>
        </p:nvSpPr>
        <p:spPr>
          <a:xfrm>
            <a:off x="4910328" y="3639312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4910328" y="363931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ANTRS65</a:t>
            </a:r>
            <a:endParaRPr lang="en-US" sz="750" dirty="0"/>
          </a:p>
        </p:txBody>
      </p:sp>
      <p:sp>
        <p:nvSpPr>
          <p:cNvPr id="236" name="Shape 234"/>
          <p:cNvSpPr/>
          <p:nvPr/>
        </p:nvSpPr>
        <p:spPr>
          <a:xfrm>
            <a:off x="5696712" y="3639312"/>
            <a:ext cx="3291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5696712" y="36393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238" name="Shape 236"/>
          <p:cNvSpPr/>
          <p:nvPr/>
        </p:nvSpPr>
        <p:spPr>
          <a:xfrm>
            <a:off x="6025896" y="3639312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6025896" y="363931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240" name="Shape 238"/>
          <p:cNvSpPr/>
          <p:nvPr/>
        </p:nvSpPr>
        <p:spPr>
          <a:xfrm>
            <a:off x="6501384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6501384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1221.3</a:t>
            </a:r>
            <a:endParaRPr lang="en-US" sz="750" dirty="0"/>
          </a:p>
        </p:txBody>
      </p:sp>
      <p:sp>
        <p:nvSpPr>
          <p:cNvPr id="242" name="Shape 240"/>
          <p:cNvSpPr/>
          <p:nvPr/>
        </p:nvSpPr>
        <p:spPr>
          <a:xfrm>
            <a:off x="6995160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6995160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+1.2°</a:t>
            </a:r>
            <a:endParaRPr lang="en-US" sz="750" dirty="0"/>
          </a:p>
        </p:txBody>
      </p:sp>
      <p:sp>
        <p:nvSpPr>
          <p:cNvPr id="244" name="Shape 242"/>
          <p:cNvSpPr/>
          <p:nvPr/>
        </p:nvSpPr>
        <p:spPr>
          <a:xfrm>
            <a:off x="7488936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7488936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46" name="Shape 244"/>
          <p:cNvSpPr/>
          <p:nvPr/>
        </p:nvSpPr>
        <p:spPr>
          <a:xfrm>
            <a:off x="4709160" y="3877056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4709160" y="38770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248" name="Shape 246"/>
          <p:cNvSpPr/>
          <p:nvPr/>
        </p:nvSpPr>
        <p:spPr>
          <a:xfrm>
            <a:off x="4910328" y="3877056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4910328" y="387705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ANTRS65</a:t>
            </a:r>
            <a:endParaRPr lang="en-US" sz="750" dirty="0"/>
          </a:p>
        </p:txBody>
      </p:sp>
      <p:sp>
        <p:nvSpPr>
          <p:cNvPr id="250" name="Shape 248"/>
          <p:cNvSpPr/>
          <p:nvPr/>
        </p:nvSpPr>
        <p:spPr>
          <a:xfrm>
            <a:off x="5696712" y="3877056"/>
            <a:ext cx="3291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5696712" y="387705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750" dirty="0"/>
          </a:p>
        </p:txBody>
      </p:sp>
      <p:sp>
        <p:nvSpPr>
          <p:cNvPr id="252" name="Shape 250"/>
          <p:cNvSpPr/>
          <p:nvPr/>
        </p:nvSpPr>
        <p:spPr>
          <a:xfrm>
            <a:off x="6025896" y="3877056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6025896" y="387705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254" name="Shape 252"/>
          <p:cNvSpPr/>
          <p:nvPr/>
        </p:nvSpPr>
        <p:spPr>
          <a:xfrm>
            <a:off x="6501384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6501384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1221.0</a:t>
            </a:r>
            <a:endParaRPr lang="en-US" sz="750" dirty="0"/>
          </a:p>
        </p:txBody>
      </p:sp>
      <p:sp>
        <p:nvSpPr>
          <p:cNvPr id="256" name="Shape 254"/>
          <p:cNvSpPr/>
          <p:nvPr/>
        </p:nvSpPr>
        <p:spPr>
          <a:xfrm>
            <a:off x="6995160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6995160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+0.9°</a:t>
            </a:r>
            <a:endParaRPr lang="en-US" sz="750" dirty="0"/>
          </a:p>
        </p:txBody>
      </p:sp>
      <p:sp>
        <p:nvSpPr>
          <p:cNvPr id="258" name="Shape 256"/>
          <p:cNvSpPr/>
          <p:nvPr/>
        </p:nvSpPr>
        <p:spPr>
          <a:xfrm>
            <a:off x="7488936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7488936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60" name="Text 258"/>
          <p:cNvSpPr/>
          <p:nvPr/>
        </p:nvSpPr>
        <p:spPr>
          <a:xfrm>
            <a:off x="4709160" y="4114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more slabs (see appendix)</a:t>
            </a:r>
            <a:endParaRPr lang="en-US" sz="800" dirty="0"/>
          </a:p>
        </p:txBody>
      </p:sp>
      <p:sp>
        <p:nvSpPr>
          <p:cNvPr id="261" name="Shape 259"/>
          <p:cNvSpPr/>
          <p:nvPr/>
        </p:nvSpPr>
        <p:spPr>
          <a:xfrm>
            <a:off x="4709160" y="4206240"/>
            <a:ext cx="9875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2" name="Shape 260"/>
          <p:cNvSpPr/>
          <p:nvPr/>
        </p:nvSpPr>
        <p:spPr>
          <a:xfrm>
            <a:off x="4709160" y="4206240"/>
            <a:ext cx="98755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4709160" y="427939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1800" dirty="0"/>
          </a:p>
        </p:txBody>
      </p:sp>
      <p:sp>
        <p:nvSpPr>
          <p:cNvPr id="264" name="Text 262"/>
          <p:cNvSpPr/>
          <p:nvPr/>
        </p:nvSpPr>
        <p:spPr>
          <a:xfrm>
            <a:off x="4709160" y="4626864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On-Target</a:t>
            </a:r>
            <a:endParaRPr lang="en-US" sz="800" dirty="0"/>
          </a:p>
        </p:txBody>
      </p:sp>
      <p:sp>
        <p:nvSpPr>
          <p:cNvPr id="265" name="Shape 263"/>
          <p:cNvSpPr/>
          <p:nvPr/>
        </p:nvSpPr>
        <p:spPr>
          <a:xfrm>
            <a:off x="5779008" y="4206240"/>
            <a:ext cx="9875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6" name="Shape 264"/>
          <p:cNvSpPr/>
          <p:nvPr/>
        </p:nvSpPr>
        <p:spPr>
          <a:xfrm>
            <a:off x="5779008" y="4206240"/>
            <a:ext cx="98755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5779008" y="427939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68" name="Text 266"/>
          <p:cNvSpPr/>
          <p:nvPr/>
        </p:nvSpPr>
        <p:spPr>
          <a:xfrm>
            <a:off x="5779008" y="4626864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00" dirty="0"/>
          </a:p>
        </p:txBody>
      </p:sp>
      <p:sp>
        <p:nvSpPr>
          <p:cNvPr id="269" name="Shape 267"/>
          <p:cNvSpPr/>
          <p:nvPr/>
        </p:nvSpPr>
        <p:spPr>
          <a:xfrm>
            <a:off x="6848856" y="4206240"/>
            <a:ext cx="9875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0" name="Shape 268"/>
          <p:cNvSpPr/>
          <p:nvPr/>
        </p:nvSpPr>
        <p:spPr>
          <a:xfrm>
            <a:off x="6848856" y="4206240"/>
            <a:ext cx="987552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6848856" y="427939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+9.8°C</a:t>
            </a:r>
            <a:endParaRPr lang="en-US" sz="1800" dirty="0"/>
          </a:p>
        </p:txBody>
      </p:sp>
      <p:sp>
        <p:nvSpPr>
          <p:cNvPr id="272" name="Text 270"/>
          <p:cNvSpPr/>
          <p:nvPr/>
        </p:nvSpPr>
        <p:spPr>
          <a:xfrm>
            <a:off x="6848856" y="4626864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Dev</a:t>
            </a:r>
            <a:endParaRPr lang="en-US" sz="800" dirty="0"/>
          </a:p>
        </p:txBody>
      </p:sp>
      <p:sp>
        <p:nvSpPr>
          <p:cNvPr id="273" name="Shape 271"/>
          <p:cNvSpPr/>
          <p:nvPr/>
        </p:nvSpPr>
        <p:spPr>
          <a:xfrm>
            <a:off x="7918704" y="4206240"/>
            <a:ext cx="9875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4" name="Shape 272"/>
          <p:cNvSpPr/>
          <p:nvPr/>
        </p:nvSpPr>
        <p:spPr>
          <a:xfrm>
            <a:off x="7918704" y="4206240"/>
            <a:ext cx="98755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7918704" y="427939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421.6°C</a:t>
            </a:r>
            <a:endParaRPr lang="en-US" sz="1800" dirty="0"/>
          </a:p>
        </p:txBody>
      </p:sp>
      <p:sp>
        <p:nvSpPr>
          <p:cNvPr id="276" name="Text 274"/>
          <p:cNvSpPr/>
          <p:nvPr/>
        </p:nvSpPr>
        <p:spPr>
          <a:xfrm>
            <a:off x="7918704" y="4626864"/>
            <a:ext cx="987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Chimney FGT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SCHEDULE 20252089  |  Sunday, 16 November 2025  |  Afternoon Shift  |  13 SLABS  ▏  AI TARGET STATE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818120" y="45720"/>
            <a:ext cx="1234440" cy="34747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93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F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Action: SEVERELY OVER-FIRED: Reduce Z1/Z2 preheat 40-45°C. Reduce Z3/Z4 by 25-30°C. All 13/13 slabs will still be on-target.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54864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8229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SP — CURRENT vs MODEL OPTIMAL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370248"/>
            <a:ext cx="228600" cy="915752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1475205"/>
            <a:ext cx="228600" cy="810795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8736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1249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6576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1209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6576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914400" y="1414855"/>
            <a:ext cx="228600" cy="871145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1288" y="1532932"/>
            <a:ext cx="228600" cy="753068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231975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-45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440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1440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1187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1440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463040" y="1296778"/>
            <a:ext cx="228600" cy="989222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09928" y="1362376"/>
            <a:ext cx="228600" cy="923624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111389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6304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1277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46304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1252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46304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011680" y="1333513"/>
            <a:ext cx="228600" cy="952487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58568" y="1372872"/>
            <a:ext cx="228600" cy="913128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1150633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01168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1263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01168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1248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01168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560320" y="1346633"/>
            <a:ext cx="228600" cy="939367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07208" y="1372872"/>
            <a:ext cx="228600" cy="913128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0" y="1163753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56032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1258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56032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1248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56032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108960" y="1346633"/>
            <a:ext cx="228600" cy="939367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55848" y="1372872"/>
            <a:ext cx="228600" cy="913128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1163753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10896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1258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10896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1248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10896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657600" y="1365000"/>
            <a:ext cx="228600" cy="921000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04488" y="1391240"/>
            <a:ext cx="228600" cy="894760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0" y="118212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65760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65760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65760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206240" y="1362376"/>
            <a:ext cx="228600" cy="923624"/>
          </a:xfrm>
          <a:prstGeom prst="rect">
            <a:avLst/>
          </a:prstGeom>
          <a:solidFill>
            <a:srgbClr val="0F4C81">
              <a:alpha val="45000"/>
            </a:srgbClr>
          </a:solidFill>
          <a:ln w="12700">
            <a:solidFill>
              <a:srgbClr val="0F4C81">
                <a:alpha val="3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53128" y="1388616"/>
            <a:ext cx="228600" cy="897384"/>
          </a:xfrm>
          <a:prstGeom prst="rect">
            <a:avLst/>
          </a:prstGeom>
          <a:solidFill>
            <a:srgbClr val="16A34A">
              <a:alpha val="6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0" y="117949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206240" y="2286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1252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206240" y="24323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1242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206240" y="25603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20040" y="272491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Current SP (Blue)  ■ Optimal SP (Green)  ΔSP shown above bars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0040" y="2944368"/>
            <a:ext cx="54864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9768" y="29443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PARAMETERS — TARGET STATE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47472" y="3182112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347472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28,990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347472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(Model)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47472" y="3566160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347472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347472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 Target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426464" y="3182112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1426464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1426464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O₂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426464" y="3566160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426464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Pa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1426464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Pressure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505456" y="3182112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2505456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2505456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Damper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505456" y="3566160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2505456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401°C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2505456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FGT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584448" y="3182112"/>
            <a:ext cx="100584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3584448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adj.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3584448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Saving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584448" y="3566160"/>
            <a:ext cx="10058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3584448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1230.2°C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3584448" y="3767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Target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681728" y="822960"/>
            <a:ext cx="54864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91456" y="8229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FCE DROPOUT — TARGET STATE (MODEL PREDICTED)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4709160" y="1042416"/>
            <a:ext cx="201168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09160" y="10424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910328" y="1042416"/>
            <a:ext cx="786384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10328" y="104241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5696712" y="1042416"/>
            <a:ext cx="475488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696712" y="104241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Tgt°C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6172200" y="1042416"/>
            <a:ext cx="493776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72200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 FCE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6665976" y="1042416"/>
            <a:ext cx="493776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665976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FCE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7159752" y="1042416"/>
            <a:ext cx="493776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159752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opt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7653528" y="1042416"/>
            <a:ext cx="493776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653528" y="10424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4709160" y="1261872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709160" y="12618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910328" y="1261872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910328" y="12618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ANCRMB6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5696712" y="1261872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696712" y="12618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6172200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172200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1234.4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6665976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665976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1231.2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7159752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159752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+1.0°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7653528" y="126187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653528" y="1261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4709160" y="1499616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709160" y="1499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4910328" y="1499616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910328" y="149961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ANEDG02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5696712" y="1499616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696712" y="149961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1230.2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6172200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172200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1236.1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6665976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665976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1232.8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7159752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159752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+2.6°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7653528" y="149961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653528" y="149961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4709160" y="1737360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709160" y="17373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4910328" y="1737360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910328" y="173736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ANEDD02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5696712" y="1737360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696712" y="173736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6172200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172200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1229.1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6665976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665976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1225.8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7159752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159752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+5.6°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7653528" y="1737360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653528" y="173736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4709160" y="1975104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709160" y="19751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4910328" y="1975104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910328" y="19751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ANEDD02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5696712" y="1975104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5696712" y="197510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6172200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172200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1229.1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6665976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665976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1225.9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7159752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7159752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+5.8°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7653528" y="1975104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7653528" y="197510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4709160" y="2212848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709160" y="221284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4910328" y="2212848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4910328" y="221284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ANEDD02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5696712" y="2212848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5696712" y="221284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6172200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6172200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1228.9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6665976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665976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1225.6</a:t>
            </a: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7159752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7159752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+5.4°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7653528" y="2212848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653528" y="22128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4709160" y="2450592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4709160" y="24505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172" name="Shape 170"/>
          <p:cNvSpPr/>
          <p:nvPr/>
        </p:nvSpPr>
        <p:spPr>
          <a:xfrm>
            <a:off x="4910328" y="2450592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910328" y="245059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ANCRMB6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5696712" y="2450592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5696712" y="245059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76" name="Shape 174"/>
          <p:cNvSpPr/>
          <p:nvPr/>
        </p:nvSpPr>
        <p:spPr>
          <a:xfrm>
            <a:off x="6172200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6172200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1226.8</a:t>
            </a:r>
            <a:endParaRPr lang="en-US" sz="750" dirty="0"/>
          </a:p>
        </p:txBody>
      </p:sp>
      <p:sp>
        <p:nvSpPr>
          <p:cNvPr id="178" name="Shape 176"/>
          <p:cNvSpPr/>
          <p:nvPr/>
        </p:nvSpPr>
        <p:spPr>
          <a:xfrm>
            <a:off x="6665976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6665976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1223.5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7159752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7159752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+3.3°</a:t>
            </a:r>
            <a:endParaRPr lang="en-US" sz="750" dirty="0"/>
          </a:p>
        </p:txBody>
      </p:sp>
      <p:sp>
        <p:nvSpPr>
          <p:cNvPr id="182" name="Shape 180"/>
          <p:cNvSpPr/>
          <p:nvPr/>
        </p:nvSpPr>
        <p:spPr>
          <a:xfrm>
            <a:off x="7653528" y="2450592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7653528" y="24505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4709160" y="2688336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4709160" y="26883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186" name="Shape 184"/>
          <p:cNvSpPr/>
          <p:nvPr/>
        </p:nvSpPr>
        <p:spPr>
          <a:xfrm>
            <a:off x="4910328" y="2688336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4910328" y="268833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ANCRMB6</a:t>
            </a:r>
            <a:endParaRPr lang="en-US" sz="750" dirty="0"/>
          </a:p>
        </p:txBody>
      </p:sp>
      <p:sp>
        <p:nvSpPr>
          <p:cNvPr id="188" name="Shape 186"/>
          <p:cNvSpPr/>
          <p:nvPr/>
        </p:nvSpPr>
        <p:spPr>
          <a:xfrm>
            <a:off x="5696712" y="2688336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5696712" y="26883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190" name="Shape 188"/>
          <p:cNvSpPr/>
          <p:nvPr/>
        </p:nvSpPr>
        <p:spPr>
          <a:xfrm>
            <a:off x="6172200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6172200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1226.5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6665976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665976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1223.3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7159752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7159752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+3.1°</a:t>
            </a:r>
            <a:endParaRPr lang="en-US" sz="750" dirty="0"/>
          </a:p>
        </p:txBody>
      </p:sp>
      <p:sp>
        <p:nvSpPr>
          <p:cNvPr id="196" name="Shape 194"/>
          <p:cNvSpPr/>
          <p:nvPr/>
        </p:nvSpPr>
        <p:spPr>
          <a:xfrm>
            <a:off x="7653528" y="2688336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7653528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198" name="Shape 196"/>
          <p:cNvSpPr/>
          <p:nvPr/>
        </p:nvSpPr>
        <p:spPr>
          <a:xfrm>
            <a:off x="4709160" y="2926080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709160" y="29260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4910328" y="2926080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4910328" y="292608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ANCRMB6</a:t>
            </a:r>
            <a:endParaRPr lang="en-US" sz="750" dirty="0"/>
          </a:p>
        </p:txBody>
      </p:sp>
      <p:sp>
        <p:nvSpPr>
          <p:cNvPr id="202" name="Shape 200"/>
          <p:cNvSpPr/>
          <p:nvPr/>
        </p:nvSpPr>
        <p:spPr>
          <a:xfrm>
            <a:off x="5696712" y="2926080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5696712" y="292608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6172200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6172200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1226.6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6665976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6665976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1223.3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>
            <a:off x="7159752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7159752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+3.1°</a:t>
            </a:r>
            <a:endParaRPr lang="en-US" sz="750" dirty="0"/>
          </a:p>
        </p:txBody>
      </p:sp>
      <p:sp>
        <p:nvSpPr>
          <p:cNvPr id="210" name="Shape 208"/>
          <p:cNvSpPr/>
          <p:nvPr/>
        </p:nvSpPr>
        <p:spPr>
          <a:xfrm>
            <a:off x="7653528" y="2926080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7653528" y="29260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12" name="Shape 210"/>
          <p:cNvSpPr/>
          <p:nvPr/>
        </p:nvSpPr>
        <p:spPr>
          <a:xfrm>
            <a:off x="4709160" y="3163824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4709160" y="31638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4910328" y="3163824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4910328" y="316382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ANTRW04</a:t>
            </a:r>
            <a:endParaRPr lang="en-US" sz="750" dirty="0"/>
          </a:p>
        </p:txBody>
      </p:sp>
      <p:sp>
        <p:nvSpPr>
          <p:cNvPr id="216" name="Shape 214"/>
          <p:cNvSpPr/>
          <p:nvPr/>
        </p:nvSpPr>
        <p:spPr>
          <a:xfrm>
            <a:off x="5696712" y="3163824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5696712" y="31638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218" name="Shape 216"/>
          <p:cNvSpPr/>
          <p:nvPr/>
        </p:nvSpPr>
        <p:spPr>
          <a:xfrm>
            <a:off x="6172200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6172200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1229.6</a:t>
            </a:r>
            <a:endParaRPr lang="en-US" sz="750" dirty="0"/>
          </a:p>
        </p:txBody>
      </p:sp>
      <p:sp>
        <p:nvSpPr>
          <p:cNvPr id="220" name="Shape 218"/>
          <p:cNvSpPr/>
          <p:nvPr/>
        </p:nvSpPr>
        <p:spPr>
          <a:xfrm>
            <a:off x="6665976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6665976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1226.4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7159752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7159752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+6.2°</a:t>
            </a:r>
            <a:endParaRPr lang="en-US" sz="750" dirty="0"/>
          </a:p>
        </p:txBody>
      </p:sp>
      <p:sp>
        <p:nvSpPr>
          <p:cNvPr id="224" name="Shape 222"/>
          <p:cNvSpPr/>
          <p:nvPr/>
        </p:nvSpPr>
        <p:spPr>
          <a:xfrm>
            <a:off x="7653528" y="3163824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7653528" y="31638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26" name="Shape 224"/>
          <p:cNvSpPr/>
          <p:nvPr/>
        </p:nvSpPr>
        <p:spPr>
          <a:xfrm>
            <a:off x="4709160" y="3401568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4709160" y="34015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228" name="Shape 226"/>
          <p:cNvSpPr/>
          <p:nvPr/>
        </p:nvSpPr>
        <p:spPr>
          <a:xfrm>
            <a:off x="4910328" y="3401568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4910328" y="340156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ANTRN37</a:t>
            </a:r>
            <a:endParaRPr lang="en-US" sz="750" dirty="0"/>
          </a:p>
        </p:txBody>
      </p:sp>
      <p:sp>
        <p:nvSpPr>
          <p:cNvPr id="230" name="Shape 228"/>
          <p:cNvSpPr/>
          <p:nvPr/>
        </p:nvSpPr>
        <p:spPr>
          <a:xfrm>
            <a:off x="5696712" y="3401568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5696712" y="340156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232" name="Shape 230"/>
          <p:cNvSpPr/>
          <p:nvPr/>
        </p:nvSpPr>
        <p:spPr>
          <a:xfrm>
            <a:off x="6172200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6172200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1231.5</a:t>
            </a:r>
            <a:endParaRPr lang="en-US" sz="750" dirty="0"/>
          </a:p>
        </p:txBody>
      </p:sp>
      <p:sp>
        <p:nvSpPr>
          <p:cNvPr id="234" name="Shape 232"/>
          <p:cNvSpPr/>
          <p:nvPr/>
        </p:nvSpPr>
        <p:spPr>
          <a:xfrm>
            <a:off x="6665976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6665976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1228.2</a:t>
            </a:r>
            <a:endParaRPr lang="en-US" sz="750" dirty="0"/>
          </a:p>
        </p:txBody>
      </p:sp>
      <p:sp>
        <p:nvSpPr>
          <p:cNvPr id="236" name="Shape 234"/>
          <p:cNvSpPr/>
          <p:nvPr/>
        </p:nvSpPr>
        <p:spPr>
          <a:xfrm>
            <a:off x="7159752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7159752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+8.0°</a:t>
            </a:r>
            <a:endParaRPr lang="en-US" sz="750" dirty="0"/>
          </a:p>
        </p:txBody>
      </p:sp>
      <p:sp>
        <p:nvSpPr>
          <p:cNvPr id="238" name="Shape 236"/>
          <p:cNvSpPr/>
          <p:nvPr/>
        </p:nvSpPr>
        <p:spPr>
          <a:xfrm>
            <a:off x="7653528" y="3401568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7653528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40" name="Shape 238"/>
          <p:cNvSpPr/>
          <p:nvPr/>
        </p:nvSpPr>
        <p:spPr>
          <a:xfrm>
            <a:off x="4709160" y="3639312"/>
            <a:ext cx="20116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4709160" y="36393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242" name="Shape 240"/>
          <p:cNvSpPr/>
          <p:nvPr/>
        </p:nvSpPr>
        <p:spPr>
          <a:xfrm>
            <a:off x="4910328" y="3639312"/>
            <a:ext cx="786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4910328" y="363931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ANTRS65</a:t>
            </a:r>
            <a:endParaRPr lang="en-US" sz="750" dirty="0"/>
          </a:p>
        </p:txBody>
      </p:sp>
      <p:sp>
        <p:nvSpPr>
          <p:cNvPr id="244" name="Shape 242"/>
          <p:cNvSpPr/>
          <p:nvPr/>
        </p:nvSpPr>
        <p:spPr>
          <a:xfrm>
            <a:off x="5696712" y="3639312"/>
            <a:ext cx="475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5696712" y="363931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246" name="Shape 244"/>
          <p:cNvSpPr/>
          <p:nvPr/>
        </p:nvSpPr>
        <p:spPr>
          <a:xfrm>
            <a:off x="6172200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6172200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1228.5</a:t>
            </a:r>
            <a:endParaRPr lang="en-US" sz="750" dirty="0"/>
          </a:p>
        </p:txBody>
      </p:sp>
      <p:sp>
        <p:nvSpPr>
          <p:cNvPr id="248" name="Shape 246"/>
          <p:cNvSpPr/>
          <p:nvPr/>
        </p:nvSpPr>
        <p:spPr>
          <a:xfrm>
            <a:off x="6665976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6665976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1225.2</a:t>
            </a:r>
            <a:endParaRPr lang="en-US" sz="750" dirty="0"/>
          </a:p>
        </p:txBody>
      </p:sp>
      <p:sp>
        <p:nvSpPr>
          <p:cNvPr id="250" name="Shape 248"/>
          <p:cNvSpPr/>
          <p:nvPr/>
        </p:nvSpPr>
        <p:spPr>
          <a:xfrm>
            <a:off x="7159752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7159752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+5.0°</a:t>
            </a:r>
            <a:endParaRPr lang="en-US" sz="750" dirty="0"/>
          </a:p>
        </p:txBody>
      </p:sp>
      <p:sp>
        <p:nvSpPr>
          <p:cNvPr id="252" name="Shape 250"/>
          <p:cNvSpPr/>
          <p:nvPr/>
        </p:nvSpPr>
        <p:spPr>
          <a:xfrm>
            <a:off x="7653528" y="3639312"/>
            <a:ext cx="49377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7653528" y="36393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54" name="Shape 252"/>
          <p:cNvSpPr/>
          <p:nvPr/>
        </p:nvSpPr>
        <p:spPr>
          <a:xfrm>
            <a:off x="4709160" y="3877056"/>
            <a:ext cx="20116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4709160" y="38770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256" name="Shape 254"/>
          <p:cNvSpPr/>
          <p:nvPr/>
        </p:nvSpPr>
        <p:spPr>
          <a:xfrm>
            <a:off x="4910328" y="3877056"/>
            <a:ext cx="786384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4910328" y="387705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ANTRS65</a:t>
            </a:r>
            <a:endParaRPr lang="en-US" sz="750" dirty="0"/>
          </a:p>
        </p:txBody>
      </p:sp>
      <p:sp>
        <p:nvSpPr>
          <p:cNvPr id="258" name="Shape 256"/>
          <p:cNvSpPr/>
          <p:nvPr/>
        </p:nvSpPr>
        <p:spPr>
          <a:xfrm>
            <a:off x="5696712" y="3877056"/>
            <a:ext cx="47548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5696712" y="387705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1220.2</a:t>
            </a:r>
            <a:endParaRPr lang="en-US" sz="750" dirty="0"/>
          </a:p>
        </p:txBody>
      </p:sp>
      <p:sp>
        <p:nvSpPr>
          <p:cNvPr id="260" name="Shape 258"/>
          <p:cNvSpPr/>
          <p:nvPr/>
        </p:nvSpPr>
        <p:spPr>
          <a:xfrm>
            <a:off x="6172200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6172200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1228.5</a:t>
            </a:r>
            <a:endParaRPr lang="en-US" sz="750" dirty="0"/>
          </a:p>
        </p:txBody>
      </p:sp>
      <p:sp>
        <p:nvSpPr>
          <p:cNvPr id="262" name="Shape 260"/>
          <p:cNvSpPr/>
          <p:nvPr/>
        </p:nvSpPr>
        <p:spPr>
          <a:xfrm>
            <a:off x="6665976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6665976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1225.2</a:t>
            </a:r>
            <a:endParaRPr lang="en-US" sz="750" dirty="0"/>
          </a:p>
        </p:txBody>
      </p:sp>
      <p:sp>
        <p:nvSpPr>
          <p:cNvPr id="264" name="Shape 262"/>
          <p:cNvSpPr/>
          <p:nvPr/>
        </p:nvSpPr>
        <p:spPr>
          <a:xfrm>
            <a:off x="7159752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7159752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+5.0°</a:t>
            </a:r>
            <a:endParaRPr lang="en-US" sz="750" dirty="0"/>
          </a:p>
        </p:txBody>
      </p:sp>
      <p:sp>
        <p:nvSpPr>
          <p:cNvPr id="266" name="Shape 264"/>
          <p:cNvSpPr/>
          <p:nvPr/>
        </p:nvSpPr>
        <p:spPr>
          <a:xfrm>
            <a:off x="7653528" y="3877056"/>
            <a:ext cx="493776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7653528" y="38770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750" dirty="0"/>
          </a:p>
        </p:txBody>
      </p:sp>
      <p:sp>
        <p:nvSpPr>
          <p:cNvPr id="268" name="Shape 266"/>
          <p:cNvSpPr/>
          <p:nvPr/>
        </p:nvSpPr>
        <p:spPr>
          <a:xfrm>
            <a:off x="4709160" y="4187952"/>
            <a:ext cx="9875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9" name="Shape 267"/>
          <p:cNvSpPr/>
          <p:nvPr/>
        </p:nvSpPr>
        <p:spPr>
          <a:xfrm>
            <a:off x="4709160" y="4187952"/>
            <a:ext cx="98755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4709160" y="4261104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1700" dirty="0"/>
          </a:p>
        </p:txBody>
      </p:sp>
      <p:sp>
        <p:nvSpPr>
          <p:cNvPr id="271" name="Text 269"/>
          <p:cNvSpPr/>
          <p:nvPr/>
        </p:nvSpPr>
        <p:spPr>
          <a:xfrm>
            <a:off x="4709160" y="459028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On-Target</a:t>
            </a:r>
            <a:endParaRPr lang="en-US" sz="800" dirty="0"/>
          </a:p>
        </p:txBody>
      </p:sp>
      <p:sp>
        <p:nvSpPr>
          <p:cNvPr id="272" name="Text 270"/>
          <p:cNvSpPr/>
          <p:nvPr/>
        </p:nvSpPr>
        <p:spPr>
          <a:xfrm>
            <a:off x="4709160" y="477316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13</a:t>
            </a:r>
            <a:endParaRPr lang="en-US" sz="800" dirty="0"/>
          </a:p>
        </p:txBody>
      </p:sp>
      <p:sp>
        <p:nvSpPr>
          <p:cNvPr id="273" name="Shape 271"/>
          <p:cNvSpPr/>
          <p:nvPr/>
        </p:nvSpPr>
        <p:spPr>
          <a:xfrm>
            <a:off x="5779008" y="4187952"/>
            <a:ext cx="9875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4" name="Shape 272"/>
          <p:cNvSpPr/>
          <p:nvPr/>
        </p:nvSpPr>
        <p:spPr>
          <a:xfrm>
            <a:off x="5779008" y="4187952"/>
            <a:ext cx="98755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5779008" y="4261104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</p:txBody>
      </p:sp>
      <p:sp>
        <p:nvSpPr>
          <p:cNvPr id="276" name="Text 274"/>
          <p:cNvSpPr/>
          <p:nvPr/>
        </p:nvSpPr>
        <p:spPr>
          <a:xfrm>
            <a:off x="5779008" y="459028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Slabs</a:t>
            </a:r>
            <a:endParaRPr lang="en-US" sz="800" dirty="0"/>
          </a:p>
        </p:txBody>
      </p:sp>
      <p:sp>
        <p:nvSpPr>
          <p:cNvPr id="277" name="Text 275"/>
          <p:cNvSpPr/>
          <p:nvPr/>
        </p:nvSpPr>
        <p:spPr>
          <a:xfrm>
            <a:off x="5779008" y="477316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0</a:t>
            </a:r>
            <a:endParaRPr lang="en-US" sz="800" dirty="0"/>
          </a:p>
        </p:txBody>
      </p:sp>
      <p:sp>
        <p:nvSpPr>
          <p:cNvPr id="278" name="Shape 276"/>
          <p:cNvSpPr/>
          <p:nvPr/>
        </p:nvSpPr>
        <p:spPr>
          <a:xfrm>
            <a:off x="6848856" y="4187952"/>
            <a:ext cx="9875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9" name="Shape 277"/>
          <p:cNvSpPr/>
          <p:nvPr/>
        </p:nvSpPr>
        <p:spPr>
          <a:xfrm>
            <a:off x="6848856" y="4187952"/>
            <a:ext cx="98755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6848856" y="4261104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+4.5°C</a:t>
            </a:r>
            <a:endParaRPr lang="en-US" sz="1700" dirty="0"/>
          </a:p>
        </p:txBody>
      </p:sp>
      <p:sp>
        <p:nvSpPr>
          <p:cNvPr id="281" name="Text 279"/>
          <p:cNvSpPr/>
          <p:nvPr/>
        </p:nvSpPr>
        <p:spPr>
          <a:xfrm>
            <a:off x="6848856" y="459028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Deviation</a:t>
            </a:r>
            <a:endParaRPr lang="en-US" sz="800" dirty="0"/>
          </a:p>
        </p:txBody>
      </p:sp>
      <p:sp>
        <p:nvSpPr>
          <p:cNvPr id="282" name="Text 280"/>
          <p:cNvSpPr/>
          <p:nvPr/>
        </p:nvSpPr>
        <p:spPr>
          <a:xfrm>
            <a:off x="6848856" y="477316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+7.8°C</a:t>
            </a:r>
            <a:endParaRPr lang="en-US" sz="800" dirty="0"/>
          </a:p>
        </p:txBody>
      </p:sp>
      <p:sp>
        <p:nvSpPr>
          <p:cNvPr id="283" name="Shape 281"/>
          <p:cNvSpPr/>
          <p:nvPr/>
        </p:nvSpPr>
        <p:spPr>
          <a:xfrm>
            <a:off x="7918704" y="4187952"/>
            <a:ext cx="9875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4" name="Shape 282"/>
          <p:cNvSpPr/>
          <p:nvPr/>
        </p:nvSpPr>
        <p:spPr>
          <a:xfrm>
            <a:off x="7918704" y="4187952"/>
            <a:ext cx="98755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7918704" y="4261104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401°C</a:t>
            </a:r>
            <a:endParaRPr lang="en-US" sz="1700" dirty="0"/>
          </a:p>
        </p:txBody>
      </p:sp>
      <p:sp>
        <p:nvSpPr>
          <p:cNvPr id="286" name="Text 284"/>
          <p:cNvSpPr/>
          <p:nvPr/>
        </p:nvSpPr>
        <p:spPr>
          <a:xfrm>
            <a:off x="7918704" y="459028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FGT</a:t>
            </a:r>
            <a:endParaRPr lang="en-US" sz="800" dirty="0"/>
          </a:p>
        </p:txBody>
      </p:sp>
      <p:sp>
        <p:nvSpPr>
          <p:cNvPr id="287" name="Text 285"/>
          <p:cNvSpPr/>
          <p:nvPr/>
        </p:nvSpPr>
        <p:spPr>
          <a:xfrm>
            <a:off x="7918704" y="4773168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421.6°C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SCHEDULES — CURRENT STATE vs AI TARGET STATE — SIDE-BY-SIDE COMPARISON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S1: Over-fired (Oct)  ·  S2: Under-fired (Nov)  ·  S3: Severely over-fired (Nov)  ·  Based on regression model predictions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786384"/>
            <a:ext cx="123444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7863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99032" y="786384"/>
            <a:ext cx="713232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9032" y="7863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12264" y="786384"/>
            <a:ext cx="749808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12264" y="78638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862072" y="786384"/>
            <a:ext cx="41148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2072" y="78638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73552" y="786384"/>
            <a:ext cx="96012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78638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Avg Temp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33672" y="786384"/>
            <a:ext cx="1024128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3672" y="786384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Fuel (Nm³/hr)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257800" y="786384"/>
            <a:ext cx="896112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78638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(Model)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53912" y="786384"/>
            <a:ext cx="804672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53912" y="78638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Saving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58584" y="786384"/>
            <a:ext cx="713232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58584" y="7863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On-Target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71816" y="786384"/>
            <a:ext cx="68580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71816" y="78638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Slabs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357616" y="786384"/>
            <a:ext cx="749808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57616" y="78638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FCE Dev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07424" y="786384"/>
            <a:ext cx="658368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7424" y="78638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FGT (°C)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765792" y="786384"/>
            <a:ext cx="73152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65792" y="78638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Slab Dev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4592" y="1170432"/>
            <a:ext cx="1234440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" y="117043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CURRENT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399032" y="1170432"/>
            <a:ext cx="713232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99032" y="11704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20251783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112264" y="1170432"/>
            <a:ext cx="749808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12264" y="117043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Oct 2025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862072" y="1170432"/>
            <a:ext cx="411480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62072" y="11704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73552" y="1170432"/>
            <a:ext cx="960120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117043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1263°C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233672" y="1170432"/>
            <a:ext cx="1024128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33672" y="117043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40,985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257800" y="1170432"/>
            <a:ext cx="896112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57800" y="117043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37,300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153912" y="1170432"/>
            <a:ext cx="804672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53912" y="1170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958584" y="1170432"/>
            <a:ext cx="713232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58584" y="11704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671816" y="1170432"/>
            <a:ext cx="685800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71816" y="117043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357616" y="1170432"/>
            <a:ext cx="749808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57616" y="117043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+8.4°C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107424" y="1170432"/>
            <a:ext cx="658368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07424" y="11704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429.3°C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765792" y="1170432"/>
            <a:ext cx="731520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65792" y="11704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+0.8°C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64592" y="1426464"/>
            <a:ext cx="1234440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4592" y="142646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TARGET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399032" y="1426464"/>
            <a:ext cx="713232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399032" y="142646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20251783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112264" y="1426464"/>
            <a:ext cx="749808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112264" y="142646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Oct 2025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862072" y="1426464"/>
            <a:ext cx="411480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862072" y="14264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273552" y="1426464"/>
            <a:ext cx="960120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73552" y="14264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1248°C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233672" y="1426464"/>
            <a:ext cx="1024128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33672" y="142646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257800" y="1426464"/>
            <a:ext cx="896112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57800" y="142646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34,324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153912" y="1426464"/>
            <a:ext cx="804672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53912" y="142646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+6,661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958584" y="1426464"/>
            <a:ext cx="713232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58584" y="142646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671816" y="1426464"/>
            <a:ext cx="685800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671816" y="142646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357616" y="1426464"/>
            <a:ext cx="749808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357616" y="142646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+6.1°C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107424" y="1426464"/>
            <a:ext cx="658368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107424" y="14264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412°C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9765792" y="1426464"/>
            <a:ext cx="731520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765792" y="14264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-1.5°C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64592" y="969264"/>
            <a:ext cx="8842248" cy="1828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01168" y="96926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— Schedule 20251783  |  OVER-FIRED  |  Afternoon Shift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64592" y="2432304"/>
            <a:ext cx="1234440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64592" y="243230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CURRENT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399032" y="2432304"/>
            <a:ext cx="713232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399032" y="243230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20252023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2112264" y="2432304"/>
            <a:ext cx="749808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112264" y="243230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Nov 2025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2862072" y="2432304"/>
            <a:ext cx="411480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862072" y="24323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273552" y="2432304"/>
            <a:ext cx="960120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73552" y="243230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1226°C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233672" y="2432304"/>
            <a:ext cx="1024128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33672" y="243230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21,785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5257800" y="2432304"/>
            <a:ext cx="896112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257800" y="24323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31,039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6153912" y="2432304"/>
            <a:ext cx="804672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153912" y="243230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6958584" y="2432304"/>
            <a:ext cx="713232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958584" y="243230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7671816" y="2432304"/>
            <a:ext cx="685800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671816" y="24323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8357616" y="2432304"/>
            <a:ext cx="749808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357616" y="243230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+3.6°C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9107424" y="2432304"/>
            <a:ext cx="658368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107424" y="243230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380.9°C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9765792" y="2432304"/>
            <a:ext cx="731520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765792" y="24323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-1.5°C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164592" y="2688336"/>
            <a:ext cx="1234440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64592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TARGET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1399032" y="2688336"/>
            <a:ext cx="713232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399032" y="268833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20252023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2112264" y="2688336"/>
            <a:ext cx="749808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112264" y="26883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Nov 2025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2862072" y="2688336"/>
            <a:ext cx="411480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862072" y="268833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3273552" y="2688336"/>
            <a:ext cx="960120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273552" y="268833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1235°C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4233672" y="2688336"/>
            <a:ext cx="1024128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233672" y="2688336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5257800" y="2688336"/>
            <a:ext cx="896112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257800" y="268833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31,977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6153912" y="2688336"/>
            <a:ext cx="804672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153912" y="268833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SP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6958584" y="2688336"/>
            <a:ext cx="713232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958584" y="268833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7671816" y="2688336"/>
            <a:ext cx="685800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671816" y="268833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8357616" y="2688336"/>
            <a:ext cx="749808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357616" y="26883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+6.1°C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9107424" y="2688336"/>
            <a:ext cx="658368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107424" y="26883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377.4°C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9765792" y="2688336"/>
            <a:ext cx="731520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765792" y="26883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+1.0°C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164592" y="2231136"/>
            <a:ext cx="8842248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01168" y="2231136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Schedule 20252023  |  UNDER-FIRED  |  Night Shift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164592" y="3694176"/>
            <a:ext cx="1234440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64592" y="36941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CURRENT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1399032" y="3694176"/>
            <a:ext cx="713232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399032" y="369417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20252089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2112264" y="3694176"/>
            <a:ext cx="749808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112264" y="36941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Nov 2025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2862072" y="3694176"/>
            <a:ext cx="411480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862072" y="369417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3273552" y="3694176"/>
            <a:ext cx="960120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273552" y="369417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1240°C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4233672" y="3694176"/>
            <a:ext cx="1024128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233672" y="3694176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27,006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5257800" y="3694176"/>
            <a:ext cx="896112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257800" y="369417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32,828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6153912" y="3694176"/>
            <a:ext cx="804672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153912" y="369417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6958584" y="3694176"/>
            <a:ext cx="713232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958584" y="369417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7671816" y="3694176"/>
            <a:ext cx="685800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7671816" y="36941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8357616" y="3694176"/>
            <a:ext cx="749808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8357616" y="36941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+7.8°C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9107424" y="3694176"/>
            <a:ext cx="658368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107424" y="369417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421.6°C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9765792" y="3694176"/>
            <a:ext cx="731520" cy="21945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765792" y="369417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+4.2°C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164592" y="3950208"/>
            <a:ext cx="1234440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64592" y="39502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TARGET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1399032" y="3950208"/>
            <a:ext cx="713232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399032" y="395020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20252089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2112264" y="3950208"/>
            <a:ext cx="749808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2112264" y="395020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Nov 2025</a:t>
            </a:r>
            <a:endParaRPr lang="en-US" sz="800" dirty="0"/>
          </a:p>
        </p:txBody>
      </p:sp>
      <p:sp>
        <p:nvSpPr>
          <p:cNvPr id="171" name="Shape 169"/>
          <p:cNvSpPr/>
          <p:nvPr/>
        </p:nvSpPr>
        <p:spPr>
          <a:xfrm>
            <a:off x="2862072" y="3950208"/>
            <a:ext cx="411480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862072" y="39502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173" name="Shape 171"/>
          <p:cNvSpPr/>
          <p:nvPr/>
        </p:nvSpPr>
        <p:spPr>
          <a:xfrm>
            <a:off x="3273552" y="3950208"/>
            <a:ext cx="960120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3273552" y="395020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1219°C</a:t>
            </a:r>
            <a:endParaRPr lang="en-US" sz="800" dirty="0"/>
          </a:p>
        </p:txBody>
      </p:sp>
      <p:sp>
        <p:nvSpPr>
          <p:cNvPr id="175" name="Shape 173"/>
          <p:cNvSpPr/>
          <p:nvPr/>
        </p:nvSpPr>
        <p:spPr>
          <a:xfrm>
            <a:off x="4233672" y="3950208"/>
            <a:ext cx="1024128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4233672" y="395020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77" name="Shape 175"/>
          <p:cNvSpPr/>
          <p:nvPr/>
        </p:nvSpPr>
        <p:spPr>
          <a:xfrm>
            <a:off x="5257800" y="3950208"/>
            <a:ext cx="896112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257800" y="395020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28,990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6153912" y="3950208"/>
            <a:ext cx="804672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6153912" y="39502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SP</a:t>
            </a:r>
            <a:endParaRPr lang="en-US" sz="800" dirty="0"/>
          </a:p>
        </p:txBody>
      </p:sp>
      <p:sp>
        <p:nvSpPr>
          <p:cNvPr id="181" name="Shape 179"/>
          <p:cNvSpPr/>
          <p:nvPr/>
        </p:nvSpPr>
        <p:spPr>
          <a:xfrm>
            <a:off x="6958584" y="3950208"/>
            <a:ext cx="713232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6958584" y="395020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800" dirty="0"/>
          </a:p>
        </p:txBody>
      </p:sp>
      <p:sp>
        <p:nvSpPr>
          <p:cNvPr id="183" name="Shape 181"/>
          <p:cNvSpPr/>
          <p:nvPr/>
        </p:nvSpPr>
        <p:spPr>
          <a:xfrm>
            <a:off x="7671816" y="3950208"/>
            <a:ext cx="685800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7671816" y="39502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185" name="Shape 183"/>
          <p:cNvSpPr/>
          <p:nvPr/>
        </p:nvSpPr>
        <p:spPr>
          <a:xfrm>
            <a:off x="8357616" y="3950208"/>
            <a:ext cx="749808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8357616" y="395020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+4.5°C</a:t>
            </a:r>
            <a:endParaRPr lang="en-US" sz="800" dirty="0"/>
          </a:p>
        </p:txBody>
      </p:sp>
      <p:sp>
        <p:nvSpPr>
          <p:cNvPr id="187" name="Shape 185"/>
          <p:cNvSpPr/>
          <p:nvPr/>
        </p:nvSpPr>
        <p:spPr>
          <a:xfrm>
            <a:off x="9107424" y="3950208"/>
            <a:ext cx="658368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9107424" y="39502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401°C</a:t>
            </a:r>
            <a:endParaRPr lang="en-US" sz="800" dirty="0"/>
          </a:p>
        </p:txBody>
      </p:sp>
      <p:sp>
        <p:nvSpPr>
          <p:cNvPr id="189" name="Shape 187"/>
          <p:cNvSpPr/>
          <p:nvPr/>
        </p:nvSpPr>
        <p:spPr>
          <a:xfrm>
            <a:off x="9765792" y="3950208"/>
            <a:ext cx="731520" cy="21945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9765792" y="39502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+1.0°C</a:t>
            </a:r>
            <a:endParaRPr lang="en-US" sz="800" dirty="0"/>
          </a:p>
        </p:txBody>
      </p:sp>
      <p:sp>
        <p:nvSpPr>
          <p:cNvPr id="191" name="Shape 189"/>
          <p:cNvSpPr/>
          <p:nvPr/>
        </p:nvSpPr>
        <p:spPr>
          <a:xfrm>
            <a:off x="164592" y="3493008"/>
            <a:ext cx="8842248" cy="1828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201168" y="349300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Schedule 20252089  |  SEVERELY OVER-FIRED  |  Afternoon Shift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— AI MODEL IMPACT ACROSS ALL 3 SCHEDULES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achieves for each scenario type: S1 Over-fired · S2 Under-fired · S3 Severely over-fired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92608" y="768096"/>
            <a:ext cx="2798064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768096"/>
            <a:ext cx="2798064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4124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— 03 Oct 2025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· OVER-FIRED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225296"/>
            <a:ext cx="2651760" cy="1828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34440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PROBLEMS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417320"/>
            <a:ext cx="5486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41732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14/15 slabs heated 5–18°C ABOVE recipe = fuel waste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746504"/>
            <a:ext cx="5486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74650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slab (ANGEN02) failed −11.2°C — higher recipe grade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075688"/>
            <a:ext cx="5486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075688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FGT 429°C — elevated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404872"/>
            <a:ext cx="5486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40487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40,985 Nm³/hr actual fuel — 47% above benchmark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825496"/>
            <a:ext cx="2651760" cy="1828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834640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 — AI MODEL ACTION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026664"/>
            <a:ext cx="54864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02666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Z1/Z2 SP by 30–35°C (preheat over-serving)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355848"/>
            <a:ext cx="54864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355848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Z3/Z4 by 15–20°C — ANGEN02 target 1240°C still met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685032"/>
            <a:ext cx="54864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68503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Z7/Z8 fine-tuned for ANGEN02 compensation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4014216"/>
            <a:ext cx="54864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014216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FGT reduces to 412°C at lower zone temps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297680"/>
            <a:ext cx="2651760" cy="621792"/>
          </a:xfrm>
          <a:prstGeom prst="rect">
            <a:avLst/>
          </a:prstGeom>
          <a:solidFill>
            <a:srgbClr val="C2410C">
              <a:alpha val="12000"/>
            </a:srgbClr>
          </a:solidFill>
          <a:ln w="12700">
            <a:solidFill>
              <a:srgbClr val="C2410C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29768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6,661 Nm³/hr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saving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(16.2%)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236976" y="768096"/>
            <a:ext cx="2798064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36976" y="768096"/>
            <a:ext cx="2798064" cy="5486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28416" y="84124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06 Nov 2025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· UNDER-FIRED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10128" y="1225296"/>
            <a:ext cx="2651760" cy="1828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28416" y="1234440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PROBLEMS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10128" y="1417320"/>
            <a:ext cx="5486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19856" y="141732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5/14 slabs severely BELOW target: −16 to −26°C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10128" y="1746504"/>
            <a:ext cx="5486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19856" y="174650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ANSCG27 + ANCRMB2 (230mm thick) catastrophically cold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310128" y="2075688"/>
            <a:ext cx="5486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9856" y="2075688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Z3/Z4 SP too low: 1265/1245°C for thick 230mm grades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10128" y="2404872"/>
            <a:ext cx="5486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19856" y="240487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mill stoppage risk — rework cost incurred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10128" y="2825496"/>
            <a:ext cx="2651760" cy="1828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28416" y="2834640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 — AI MODEL ACTION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10128" y="3026664"/>
            <a:ext cx="54864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19856" y="302666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Z3 SP by +30°C → 1295°C (highest FCE coefficient)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310128" y="3355848"/>
            <a:ext cx="54864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19856" y="3355848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Z4 by +20°C to ensure thick slab penetration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310128" y="3685032"/>
            <a:ext cx="54864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19856" y="368503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Z7/Z8 raised +15°C for final soaking guarantee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310128" y="4014216"/>
            <a:ext cx="54864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19856" y="4014216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slabs achieve predicted FCE ≥ target −3°C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310128" y="4297680"/>
            <a:ext cx="2651760" cy="621792"/>
          </a:xfrm>
          <a:prstGeom prst="rect">
            <a:avLst/>
          </a:prstGeom>
          <a:solidFill>
            <a:srgbClr val="B91C1C">
              <a:alpha val="12000"/>
            </a:srgbClr>
          </a:solidFill>
          <a:ln w="12700">
            <a:solidFill>
              <a:srgbClr val="B91C1C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10128" y="429768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+14/14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on-target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(was 8/14)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6181344" y="768096"/>
            <a:ext cx="2798064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181344" y="768096"/>
            <a:ext cx="2798064" cy="548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72784" y="84124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16 Nov 2025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· SEVERELY OVER-FIRED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54496" y="1225296"/>
            <a:ext cx="2651760" cy="1828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72784" y="1234440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PROBLEMS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254496" y="1417320"/>
            <a:ext cx="5486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64224" y="141732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 on-target BUT mean deviation +9.8°C — massive excess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54496" y="1746504"/>
            <a:ext cx="5486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64224" y="174650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 range 1221–1249°C vs target 1220–1230°C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54496" y="2075688"/>
            <a:ext cx="5486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64224" y="2075688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Z1/Z2 preheat running 40–45°C above optimum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254496" y="2404872"/>
            <a:ext cx="5486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64224" y="240487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Preheat residence 297 min — excessive thermal soak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254496" y="2825496"/>
            <a:ext cx="2651760" cy="1828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72784" y="2834640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 — AI MODEL ACTION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254496" y="3026664"/>
            <a:ext cx="54864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64224" y="302666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Z1/Z2 by 40–45°C — BIGGEST single intervention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254496" y="3355848"/>
            <a:ext cx="54864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64224" y="3355848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Z3/Z4 by 25–30°C — quality still guaranteed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254496" y="3685032"/>
            <a:ext cx="54864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64224" y="368503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FGT drops 416→401°C — recuperator load reduced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254496" y="4014216"/>
            <a:ext cx="54864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64224" y="4014216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13/13 slabs remain on-target at optimised SPs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254496" y="4297680"/>
            <a:ext cx="2651760" cy="621792"/>
          </a:xfrm>
          <a:prstGeom prst="rect">
            <a:avLst/>
          </a:prstGeom>
          <a:solidFill>
            <a:srgbClr val="0F4C81">
              <a:alpha val="12000"/>
            </a:srgbClr>
          </a:solidFill>
          <a:ln w="12700">
            <a:solidFill>
              <a:srgbClr val="0F4C81">
                <a:alpha val="4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54496" y="429768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3,836 Nm³/hr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saving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(14.2%)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WHAT THE AI MODEL DELIVERS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832104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"/>
            <a:ext cx="8321040" cy="51206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6A34A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87552"/>
            <a:ext cx="54864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024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No SP guidance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27248" y="10241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10912" y="10241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SP advisory from regression model for any grade mix in real time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572768"/>
            <a:ext cx="8321040" cy="51206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6A34A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572768"/>
            <a:ext cx="54864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6093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Post-discharge quality failures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27248" y="1609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10912" y="160934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 predicted for every slab BEFORE discharge — 100% pre-emptive quality visibility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157984"/>
            <a:ext cx="8321040" cy="51206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6A34A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157984"/>
            <a:ext cx="54864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1945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No cold-slab compensation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27248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10912" y="21945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Z3/Z7/Z8 SP boost calculated from regression when entry temp &lt;140°C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743200"/>
            <a:ext cx="8321040" cy="51206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6A34A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743200"/>
            <a:ext cx="54864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7797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P4: Uncontrolled FGT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27248" y="27797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10912" y="277977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FGT model predicts chimney temp — AFR/damper recommendations hold FGT &lt;440°C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328416"/>
            <a:ext cx="8321040" cy="51206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6A34A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328416"/>
            <a:ext cx="54864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3649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No fuel accountability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27248" y="3364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10912" y="33649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Nm³/hr saving quantified per schedule — S1 saves 16.2%, S3 saves 14.2%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3913632"/>
            <a:ext cx="8321040" cy="51206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913632"/>
            <a:ext cx="54864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3950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Energy Impact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127248" y="3950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3,800–6,700 Nm³/hr per shift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10912" y="39502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₹18/Nm³ → ₹68K–₹120K savings per shift · ~₹3–5 Cr per year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4498848"/>
            <a:ext cx="8321040" cy="51206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4498848"/>
            <a:ext cx="54864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45354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Impact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127248" y="45354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Under-fired: 8/14 → 14/14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10912" y="453542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slabs on-target after model SP correction — zero quality failures predicted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11480" y="4882896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Hazira_Data_Assessment_filtered.csv + Process_parameter.xlsx  ·  FCE Model R²=0.61  ·  FGT Model R²=0.70  ·  April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Furnace Setpoint Optimisation — AI Model</dc:title>
  <dc:subject>PptxGenJS Presentation</dc:subject>
  <dc:creator>PptxGenJS</dc:creator>
  <cp:lastModifiedBy>PptxGenJS</cp:lastModifiedBy>
  <cp:revision>1</cp:revision>
  <dcterms:created xsi:type="dcterms:W3CDTF">2026-04-02T05:34:29Z</dcterms:created>
  <dcterms:modified xsi:type="dcterms:W3CDTF">2026-04-02T05:34:29Z</dcterms:modified>
</cp:coreProperties>
</file>