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FCE/Setpoint Temperature (°C) — All Models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FCE Actual</c:v>
                </c:pt>
              </c:strCache>
            </c:strRef>
          </c:tx>
          <c:spPr>
            <a:solidFill>
              <a:srgbClr val="922B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S19</c:v>
                  </c:pt>
                  <c:pt idx="1">
                    <c:v>S21</c:v>
                  </c:pt>
                  <c:pt idx="2">
                    <c:v>S17</c:v>
                  </c:pt>
                  <c:pt idx="3">
                    <c:v>S18</c:v>
                  </c:pt>
                  <c:pt idx="4">
                    <c:v>S14</c:v>
                  </c:pt>
                  <c:pt idx="5">
                    <c:v>S16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1243.2</c:v>
                </c:pt>
                <c:pt idx="1">
                  <c:v>1244</c:v>
                </c:pt>
                <c:pt idx="2">
                  <c:v>1246.8</c:v>
                </c:pt>
                <c:pt idx="3">
                  <c:v>1250</c:v>
                </c:pt>
                <c:pt idx="4">
                  <c:v>1231.8</c:v>
                </c:pt>
                <c:pt idx="5">
                  <c:v>1237.6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M1 Max Setpoint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S19</c:v>
                  </c:pt>
                  <c:pt idx="1">
                    <c:v>S21</c:v>
                  </c:pt>
                  <c:pt idx="2">
                    <c:v>S17</c:v>
                  </c:pt>
                  <c:pt idx="3">
                    <c:v>S18</c:v>
                  </c:pt>
                  <c:pt idx="4">
                    <c:v>S14</c:v>
                  </c:pt>
                  <c:pt idx="5">
                    <c:v>S16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1240.2</c:v>
                </c:pt>
                <c:pt idx="1">
                  <c:v>1240.2</c:v>
                </c:pt>
                <c:pt idx="2">
                  <c:v>1240.2</c:v>
                </c:pt>
                <c:pt idx="3">
                  <c:v>1240.2</c:v>
                </c:pt>
                <c:pt idx="4">
                  <c:v>1240.2</c:v>
                </c:pt>
                <c:pt idx="5">
                  <c:v>1230.2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M2 Wtd Avg +5°C</c:v>
                </c:pt>
              </c:strCache>
            </c:strRef>
          </c:tx>
          <c:spPr>
            <a:solidFill>
              <a:srgbClr val="145A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S19</c:v>
                  </c:pt>
                  <c:pt idx="1">
                    <c:v>S21</c:v>
                  </c:pt>
                  <c:pt idx="2">
                    <c:v>S17</c:v>
                  </c:pt>
                  <c:pt idx="3">
                    <c:v>S18</c:v>
                  </c:pt>
                  <c:pt idx="4">
                    <c:v>S14</c:v>
                  </c:pt>
                  <c:pt idx="5">
                    <c:v>S16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1233.3</c:v>
                </c:pt>
                <c:pt idx="1">
                  <c:v>1231.3</c:v>
                </c:pt>
                <c:pt idx="2">
                  <c:v>1233.8</c:v>
                </c:pt>
                <c:pt idx="3">
                  <c:v>1236.6</c:v>
                </c:pt>
                <c:pt idx="4">
                  <c:v>1232.1</c:v>
                </c:pt>
                <c:pt idx="5">
                  <c:v>1233.5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60"/>
          <c:min val="121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Gas Saving (NM3/HR): Current → M2 Weighted Average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Gas Saving vs Current (NM3/HR)</c:v>
                </c:pt>
              </c:strCache>
            </c:strRef>
          </c:tx>
          <c:spPr>
            <a:solidFill>
              <a:srgbClr val="145A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5A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5A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5A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5A3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S19</c:v>
                  </c:pt>
                  <c:pt idx="1">
                    <c:v>S21</c:v>
                  </c:pt>
                  <c:pt idx="2">
                    <c:v>S17</c:v>
                  </c:pt>
                  <c:pt idx="3">
                    <c:v>S18</c:v>
                  </c:pt>
                  <c:pt idx="4">
                    <c:v>S14</c:v>
                  </c:pt>
                  <c:pt idx="5">
                    <c:v>S16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640</c:v>
                </c:pt>
                <c:pt idx="1">
                  <c:v>681</c:v>
                </c:pt>
                <c:pt idx="2">
                  <c:v>695</c:v>
                </c:pt>
                <c:pt idx="3">
                  <c:v>713</c:v>
                </c:pt>
                <c:pt idx="4">
                  <c:v>93</c:v>
                </c:pt>
                <c:pt idx="5">
                  <c:v>222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Overheated &amp; Under-heated Slabs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Overheated Slabs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S19</c:v>
                  </c:pt>
                  <c:pt idx="1">
                    <c:v>S21</c:v>
                  </c:pt>
                  <c:pt idx="2">
                    <c:v>S17</c:v>
                  </c:pt>
                  <c:pt idx="3">
                    <c:v>S18</c:v>
                  </c:pt>
                  <c:pt idx="4">
                    <c:v>S14</c:v>
                  </c:pt>
                  <c:pt idx="5">
                    <c:v>S16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70.6</c:v>
                </c:pt>
                <c:pt idx="1">
                  <c:v>84.5</c:v>
                </c:pt>
                <c:pt idx="2">
                  <c:v>82.4</c:v>
                </c:pt>
                <c:pt idx="3">
                  <c:v>91.1</c:v>
                </c:pt>
                <c:pt idx="4">
                  <c:v>39.6</c:v>
                </c:pt>
                <c:pt idx="5">
                  <c:v>52.1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Under-heated (%)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S19</c:v>
                  </c:pt>
                  <c:pt idx="1">
                    <c:v>S21</c:v>
                  </c:pt>
                  <c:pt idx="2">
                    <c:v>S17</c:v>
                  </c:pt>
                  <c:pt idx="3">
                    <c:v>S18</c:v>
                  </c:pt>
                  <c:pt idx="4">
                    <c:v>S14</c:v>
                  </c:pt>
                  <c:pt idx="5">
                    <c:v>S16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13.8</c:v>
                </c:pt>
                <c:pt idx="1">
                  <c:v>3.9</c:v>
                </c:pt>
                <c:pt idx="2">
                  <c:v>9.8</c:v>
                </c:pt>
                <c:pt idx="3">
                  <c:v>0</c:v>
                </c:pt>
                <c:pt idx="4">
                  <c:v>20.8</c:v>
                </c:pt>
                <c:pt idx="5">
                  <c:v>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Zone Setpoint (°C) by Zone — Schedule 20260018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Zone Temp</c:v>
                </c:pt>
              </c:strCache>
            </c:strRef>
          </c:tx>
          <c:spPr>
            <a:solidFill>
              <a:srgbClr val="7D3C98"/>
            </a:solidFill>
            <a:ln w="31750" cap="flat">
              <a:solidFill>
                <a:srgbClr val="7D3C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D3C98"/>
              </a:solidFill>
              <a:ln w="9525" cap="flat">
                <a:solidFill>
                  <a:srgbClr val="7D3C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Z1</c:v>
                  </c:pt>
                  <c:pt idx="1">
                    <c:v>Z2</c:v>
                  </c:pt>
                  <c:pt idx="2">
                    <c:v>Z3</c:v>
                  </c:pt>
                  <c:pt idx="3">
                    <c:v>Z4</c:v>
                  </c:pt>
                  <c:pt idx="4">
                    <c:v>Z5</c:v>
                  </c:pt>
                  <c:pt idx="5">
                    <c:v>Z6</c:v>
                  </c:pt>
                  <c:pt idx="6">
                    <c:v>Z7</c:v>
                  </c:pt>
                  <c:pt idx="7">
                    <c:v>Z8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1248</c:v>
                </c:pt>
                <c:pt idx="1">
                  <c:v>1262</c:v>
                </c:pt>
                <c:pt idx="2">
                  <c:v>1312</c:v>
                </c:pt>
                <c:pt idx="3">
                  <c:v>1310</c:v>
                </c:pt>
                <c:pt idx="4">
                  <c:v>1280</c:v>
                </c:pt>
                <c:pt idx="5">
                  <c:v>1266</c:v>
                </c:pt>
                <c:pt idx="6">
                  <c:v>1282</c:v>
                </c:pt>
                <c:pt idx="7">
                  <c:v>1265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M1 Max Setpt Zones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Z1</c:v>
                  </c:pt>
                  <c:pt idx="1">
                    <c:v>Z2</c:v>
                  </c:pt>
                  <c:pt idx="2">
                    <c:v>Z3</c:v>
                  </c:pt>
                  <c:pt idx="3">
                    <c:v>Z4</c:v>
                  </c:pt>
                  <c:pt idx="4">
                    <c:v>Z5</c:v>
                  </c:pt>
                  <c:pt idx="5">
                    <c:v>Z6</c:v>
                  </c:pt>
                  <c:pt idx="6">
                    <c:v>Z7</c:v>
                  </c:pt>
                  <c:pt idx="7">
                    <c:v>Z8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1246.1</c:v>
                </c:pt>
                <c:pt idx="1">
                  <c:v>1243.2</c:v>
                </c:pt>
                <c:pt idx="2">
                  <c:v>1317.6</c:v>
                </c:pt>
                <c:pt idx="3">
                  <c:v>1311.1</c:v>
                </c:pt>
                <c:pt idx="4">
                  <c:v>1257.8</c:v>
                </c:pt>
                <c:pt idx="5">
                  <c:v>1254.3</c:v>
                </c:pt>
                <c:pt idx="6">
                  <c:v>1256.9</c:v>
                </c:pt>
                <c:pt idx="7">
                  <c:v>1247.8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M2 WtAvg Zones</c:v>
                </c:pt>
              </c:strCache>
            </c:strRef>
          </c:tx>
          <c:spPr>
            <a:solidFill>
              <a:srgbClr val="1E8449"/>
            </a:solidFill>
            <a:ln w="31750" cap="flat">
              <a:solidFill>
                <a:srgbClr val="1E84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8449"/>
              </a:solidFill>
              <a:ln w="9525" cap="flat">
                <a:solidFill>
                  <a:srgbClr val="1E84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Z1</c:v>
                  </c:pt>
                  <c:pt idx="1">
                    <c:v>Z2</c:v>
                  </c:pt>
                  <c:pt idx="2">
                    <c:v>Z3</c:v>
                  </c:pt>
                  <c:pt idx="3">
                    <c:v>Z4</c:v>
                  </c:pt>
                  <c:pt idx="4">
                    <c:v>Z5</c:v>
                  </c:pt>
                  <c:pt idx="5">
                    <c:v>Z6</c:v>
                  </c:pt>
                  <c:pt idx="6">
                    <c:v>Z7</c:v>
                  </c:pt>
                  <c:pt idx="7">
                    <c:v>Z8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1242.5</c:v>
                </c:pt>
                <c:pt idx="1">
                  <c:v>1239.6</c:v>
                </c:pt>
                <c:pt idx="2">
                  <c:v>1314</c:v>
                </c:pt>
                <c:pt idx="3">
                  <c:v>1307.5</c:v>
                </c:pt>
                <c:pt idx="4">
                  <c:v>1254.2</c:v>
                </c:pt>
                <c:pt idx="5">
                  <c:v>1250.7</c:v>
                </c:pt>
                <c:pt idx="6">
                  <c:v>1253.3</c:v>
                </c:pt>
                <c:pt idx="7">
                  <c:v>1244.2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Current FCE Dropout</c:v>
                </c:pt>
              </c:strCache>
            </c:strRef>
          </c:tx>
          <c:spPr>
            <a:solidFill>
              <a:srgbClr val="F5A623"/>
            </a:solidFill>
            <a:ln w="3175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Z1</c:v>
                  </c:pt>
                  <c:pt idx="1">
                    <c:v>Z2</c:v>
                  </c:pt>
                  <c:pt idx="2">
                    <c:v>Z3</c:v>
                  </c:pt>
                  <c:pt idx="3">
                    <c:v>Z4</c:v>
                  </c:pt>
                  <c:pt idx="4">
                    <c:v>Z5</c:v>
                  </c:pt>
                  <c:pt idx="5">
                    <c:v>Z6</c:v>
                  </c:pt>
                  <c:pt idx="6">
                    <c:v>Z7</c:v>
                  </c:pt>
                  <c:pt idx="7">
                    <c:v>Z8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1250</c:v>
                </c:pt>
                <c:pt idx="1">
                  <c:v>1250</c:v>
                </c:pt>
                <c:pt idx="2">
                  <c:v>1250</c:v>
                </c:pt>
                <c:pt idx="3">
                  <c:v>1250</c:v>
                </c:pt>
                <c:pt idx="4">
                  <c:v>1250</c:v>
                </c:pt>
                <c:pt idx="5">
                  <c:v>1250</c:v>
                </c:pt>
                <c:pt idx="6">
                  <c:v>1250</c:v>
                </c:pt>
                <c:pt idx="7">
                  <c:v>1250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Max Recipe Target</c:v>
                </c:pt>
              </c:strCache>
            </c:strRef>
          </c:tx>
          <c:spPr>
            <a:solidFill>
              <a:srgbClr val="AAAAAA"/>
            </a:solidFill>
            <a:ln w="31750" cap="flat">
              <a:solidFill>
                <a:srgbClr val="AAAA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Z1</c:v>
                  </c:pt>
                  <c:pt idx="1">
                    <c:v>Z2</c:v>
                  </c:pt>
                  <c:pt idx="2">
                    <c:v>Z3</c:v>
                  </c:pt>
                  <c:pt idx="3">
                    <c:v>Z4</c:v>
                  </c:pt>
                  <c:pt idx="4">
                    <c:v>Z5</c:v>
                  </c:pt>
                  <c:pt idx="5">
                    <c:v>Z6</c:v>
                  </c:pt>
                  <c:pt idx="6">
                    <c:v>Z7</c:v>
                  </c:pt>
                  <c:pt idx="7">
                    <c:v>Z8</c:v>
                  </c:pt>
                </c:lvl>
              </c:multiLvlStrCache>
            </c:multiLvl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1240.2</c:v>
                </c:pt>
                <c:pt idx="1">
                  <c:v>1240.2</c:v>
                </c:pt>
                <c:pt idx="2">
                  <c:v>1240.2</c:v>
                </c:pt>
                <c:pt idx="3">
                  <c:v>1240.2</c:v>
                </c:pt>
                <c:pt idx="4">
                  <c:v>1240.2</c:v>
                </c:pt>
                <c:pt idx="5">
                  <c:v>1240.2</c:v>
                </c:pt>
                <c:pt idx="6">
                  <c:v>1240.2</c:v>
                </c:pt>
                <c:pt idx="7">
                  <c:v>1240.2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70"/>
          <c:min val="11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0"/>
            <a:ext cx="11978640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REHEATING FURNACE — ZONE SETPOINT OPTIMIZATION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430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Gap: Current Actual vs Max Setpoint vs Weighted Average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 Plant · RHF#1 · Nov 2025–Jan 2026 · 6 Production Schedules · 601 Slabs Analysed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749040" cy="15087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374904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194560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ACTUAL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560320"/>
            <a:ext cx="3529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furnace IS doing today. FCE dropout temperatures, gas consumed, overheating events.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2103120"/>
            <a:ext cx="3749040" cy="1508760"/>
          </a:xfrm>
          <a:prstGeom prst="rect">
            <a:avLst/>
          </a:prstGeom>
          <a:solidFill>
            <a:srgbClr val="922B21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2103120"/>
            <a:ext cx="374904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2194560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MAX SETPOINT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98848" y="2560320"/>
            <a:ext cx="3529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set to highest recipe temp in furnace. Safe but over-heats all lower-T grades systematically.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321040" y="2103120"/>
            <a:ext cx="3749040" cy="1508760"/>
          </a:xfrm>
          <a:prstGeom prst="rect">
            <a:avLst/>
          </a:prstGeom>
          <a:solidFill>
            <a:srgbClr val="145A32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103120"/>
            <a:ext cx="374904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8430768" y="2194560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WEIGHTED AVG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30768" y="2560320"/>
            <a:ext cx="3529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set to mass-weighted recipe avg + 5°C buffer. Energy optimised while maintaining quality.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2176272" cy="1417320"/>
          </a:xfrm>
          <a:prstGeom prst="rect">
            <a:avLst/>
          </a:prstGeom>
          <a:solidFill>
            <a:srgbClr val="122436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40480"/>
            <a:ext cx="2176272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3192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10.8°C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2176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FCE Excess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2176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M2 target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61488" y="3840480"/>
            <a:ext cx="2176272" cy="1417320"/>
          </a:xfrm>
          <a:prstGeom prst="rect">
            <a:avLst/>
          </a:prstGeom>
          <a:solidFill>
            <a:srgbClr val="122436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61488" y="3840480"/>
            <a:ext cx="2176272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2761488" y="393192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761488" y="4480560"/>
            <a:ext cx="2176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Slabs Overheated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61488" y="4709160"/>
            <a:ext cx="2176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&gt;10°C above recipe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65776" y="3840480"/>
            <a:ext cx="2176272" cy="1417320"/>
          </a:xfrm>
          <a:prstGeom prst="rect">
            <a:avLst/>
          </a:prstGeom>
          <a:solidFill>
            <a:srgbClr val="122436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65776" y="3840480"/>
            <a:ext cx="2176272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1" name="Text 29"/>
          <p:cNvSpPr/>
          <p:nvPr/>
        </p:nvSpPr>
        <p:spPr>
          <a:xfrm>
            <a:off x="5065776" y="393192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~507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065776" y="4480560"/>
            <a:ext cx="2176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NM3/HR Saving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65776" y="4709160"/>
            <a:ext cx="2176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schedule (avg)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70064" y="3840480"/>
            <a:ext cx="2176272" cy="1417320"/>
          </a:xfrm>
          <a:prstGeom prst="rect">
            <a:avLst/>
          </a:prstGeom>
          <a:solidFill>
            <a:srgbClr val="122436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70064" y="3840480"/>
            <a:ext cx="2176272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6" name="Text 34"/>
          <p:cNvSpPr/>
          <p:nvPr/>
        </p:nvSpPr>
        <p:spPr>
          <a:xfrm>
            <a:off x="7370064" y="393192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370064" y="4480560"/>
            <a:ext cx="2176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Reduction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70064" y="4709160"/>
            <a:ext cx="2176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vs current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674352" y="3840480"/>
            <a:ext cx="2176272" cy="1417320"/>
          </a:xfrm>
          <a:prstGeom prst="rect">
            <a:avLst/>
          </a:prstGeom>
          <a:solidFill>
            <a:srgbClr val="122436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674352" y="3840480"/>
            <a:ext cx="2176272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1" name="Text 39"/>
          <p:cNvSpPr/>
          <p:nvPr/>
        </p:nvSpPr>
        <p:spPr>
          <a:xfrm>
            <a:off x="9674352" y="393192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607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9674352" y="4480560"/>
            <a:ext cx="2176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Slabs Analysed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674352" y="4709160"/>
            <a:ext cx="2176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schedules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5394960"/>
            <a:ext cx="11247120" cy="50292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" y="5394960"/>
            <a:ext cx="9144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6" name="Text 44"/>
          <p:cNvSpPr/>
          <p:nvPr/>
        </p:nvSpPr>
        <p:spPr>
          <a:xfrm>
            <a:off x="621792" y="543153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CONSULTANT'S THESIS: Current furnace operation consumes 1.1–7.2% MORE fuel than necessary in 5 of 6 schedules, due to operating at Max Setpoint irrespective of actual grade mix. Weighted Average model delivers the same product quality at lower energy cost.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3093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Prepared: Independent Technical Consultant · Steel Process Optimisation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58000" y="63093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MANAGEMENT REVIEW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COMPARISON — Current · M1 Max · M2 Weighted Average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Schedules · 601 Slabs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640080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640080"/>
            <a:ext cx="45720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06640" y="640080"/>
            <a:ext cx="4572000" cy="38404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0" y="69494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Metrics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1078992"/>
          <a:ext cx="4462272" cy="3218688"/>
        </p:xfrm>
        <a:graphic>
          <a:graphicData uri="http://schemas.openxmlformats.org/drawingml/2006/table">
            <a:tbl>
              <a:tblPr/>
              <a:tblGrid>
                <a:gridCol w="731520"/>
                <a:gridCol w="804672"/>
                <a:gridCol w="804672"/>
                <a:gridCol w="804672"/>
                <a:gridCol w="749808"/>
                <a:gridCol w="74980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Sched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FCE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M1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M2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WtAvg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Excess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(°C)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Saving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(%)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S19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1243.2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86C1"/>
                          </a:solidFill>
                        </a:rPr>
                        <a:t>1240.2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1233.3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+12.0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5.2%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S21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1244.0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86C1"/>
                          </a:solidFill>
                        </a:rPr>
                        <a:t>1240.2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1231.3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+14.8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6.1%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S17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1246.8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86C1"/>
                          </a:solidFill>
                        </a:rPr>
                        <a:t>1240.2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1233.8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+15.0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7.2%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S18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1250.0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86C1"/>
                          </a:solidFill>
                        </a:rPr>
                        <a:t>1240.2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1236.6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+15.4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6.4%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1231.8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86C1"/>
                          </a:solidFill>
                        </a:rPr>
                        <a:t>1240.2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1232.1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35400"/>
                          </a:solidFill>
                        </a:rPr>
                        <a:t>+1.7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1.1%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1237.6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86C1"/>
                          </a:solidFill>
                        </a:rPr>
                        <a:t>1230.2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1233.5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35400"/>
                          </a:solidFill>
                        </a:rPr>
                        <a:t>+6.1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2.4%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4617720"/>
            <a:ext cx="37947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74320" y="4617720"/>
            <a:ext cx="9144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663440"/>
            <a:ext cx="3547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 schedules: FCE is 6–15°C ABOVE the weighted-average recipe target → systematic over-firing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224528" y="4617720"/>
            <a:ext cx="37947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24528" y="4617720"/>
            <a:ext cx="91440" cy="65836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5" name="Text 11"/>
          <p:cNvSpPr/>
          <p:nvPr/>
        </p:nvSpPr>
        <p:spPr>
          <a:xfrm>
            <a:off x="4407408" y="4663440"/>
            <a:ext cx="3547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model reduces setpoint by avg 6°C → saves 1–7% fuel with maintained quality via 5°C buffer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174736" y="4617720"/>
            <a:ext cx="37947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74736" y="4617720"/>
            <a:ext cx="91440" cy="658368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8" name="Text 14"/>
          <p:cNvSpPr/>
          <p:nvPr/>
        </p:nvSpPr>
        <p:spPr>
          <a:xfrm>
            <a:off x="8357616" y="4663440"/>
            <a:ext cx="3547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20260016: only case where M1 &lt; M2 — weighted avg pulled higher. M1 preferred here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GAP ANALYSIS — Current State to Target (M2)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Quantification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640080"/>
          <a:ext cx="6583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7040880" y="640080"/>
          <a:ext cx="4846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950208"/>
            <a:ext cx="1161288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4"/>
          <p:cNvSpPr/>
          <p:nvPr/>
        </p:nvSpPr>
        <p:spPr>
          <a:xfrm>
            <a:off x="365760" y="3986784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ENERGY SAVINGS — Per Schedule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43400"/>
          <a:ext cx="11612880" cy="2304288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1097280"/>
                <a:gridCol w="1097280"/>
                <a:gridCol w="914400"/>
                <a:gridCol w="1188720"/>
                <a:gridCol w="1097280"/>
                <a:gridCol w="822960"/>
                <a:gridCol w="100584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Schedule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Slabs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Current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FCE (°C)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M2 Target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FCE (°C)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Excess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(°C)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Current Gas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(NM3/HR)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Saving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(NM3/HR)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Saving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(%)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Cost Saving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(₹ Lakh)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Overheated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Slabs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S19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1243.2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1231.3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+12.0°C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12,392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640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5.2%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₹0.87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70.6%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S21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1244.0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1229.3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+14.8°C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15,717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681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6.1%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₹0.88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84.5%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S17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1246.8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1231.8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+15.0°C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11,406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695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7.2%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₹0.89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82.4%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S18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1250.0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1234.6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+15.4°C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12,970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713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6.4%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₹0.9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91.1%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1231.8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1230.1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35400"/>
                          </a:solidFill>
                        </a:rPr>
                        <a:t>+1.7°C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8,328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93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1.1%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₹0.11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35400"/>
                          </a:solidFill>
                        </a:rPr>
                        <a:t>39.6%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</a:rPr>
                        <a:t>1237.6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1231.5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35400"/>
                          </a:solidFill>
                        </a:rPr>
                        <a:t>+6.1°C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13,976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222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2.4%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</a:rPr>
                        <a:t>₹0.27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35400"/>
                          </a:solidFill>
                        </a:rPr>
                        <a:t>52.1%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TEMPERATURE PROFILE — All Models Compared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20260018 example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64008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640080"/>
            <a:ext cx="416052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0" y="640080"/>
            <a:ext cx="416052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6949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Setpoints (°C)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1060704"/>
          <a:ext cx="4050792" cy="3913632"/>
        </p:xfrm>
        <a:graphic>
          <a:graphicData uri="http://schemas.openxmlformats.org/drawingml/2006/table">
            <a:tbl>
              <a:tblPr/>
              <a:tblGrid>
                <a:gridCol w="566928"/>
                <a:gridCol w="960120"/>
                <a:gridCol w="960120"/>
                <a:gridCol w="960120"/>
                <a:gridCol w="9875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Zone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(°C)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3C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M1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(°C)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M2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(°C)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Saving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(A→M2)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Z1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D3C98"/>
                          </a:solidFill>
                        </a:rPr>
                        <a:t>1248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1246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1243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+6°C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Z2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D3C98"/>
                          </a:solidFill>
                        </a:rPr>
                        <a:t>1262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1243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1240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+22°C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Z3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D3C98"/>
                          </a:solidFill>
                        </a:rPr>
                        <a:t>1312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1318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1314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-2°C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Z4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D3C98"/>
                          </a:solidFill>
                        </a:rPr>
                        <a:t>1310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1311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1308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+3°C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Z5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D3C98"/>
                          </a:solidFill>
                        </a:rPr>
                        <a:t>1280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1258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1254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+26°C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Z6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D3C98"/>
                          </a:solidFill>
                        </a:rPr>
                        <a:t>1266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1254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1251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+15°C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Z7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D3C98"/>
                          </a:solidFill>
                        </a:rPr>
                        <a:t>1282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1257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1253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+29°C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Z8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D3C98"/>
                          </a:solidFill>
                        </a:rPr>
                        <a:t>1265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1248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1244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+21°C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FCE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35400"/>
                          </a:solidFill>
                        </a:rPr>
                        <a:t>1250.0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6C1"/>
                          </a:solidFill>
                        </a:rPr>
                        <a:t>1240.2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</a:rPr>
                        <a:t>1234.6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+15.4°C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5285232"/>
            <a:ext cx="11612880" cy="438912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11" name="Shape 7"/>
          <p:cNvSpPr/>
          <p:nvPr/>
        </p:nvSpPr>
        <p:spPr>
          <a:xfrm>
            <a:off x="274320" y="5285232"/>
            <a:ext cx="91440" cy="4389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8"/>
          <p:cNvSpPr/>
          <p:nvPr/>
        </p:nvSpPr>
        <p:spPr>
          <a:xfrm>
            <a:off x="438912" y="5321808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Z8 (Equalising) appears ≤ FCE dropout — CORRECT physics. Slab retains heat from Z3/Z4 soaking zones (+77/+71°C). Z8 homogenises top-bottom temp before discharge. FCE = slab surface temp at exit, driven by stored soaking heat — not Z8 atmosphere.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74320" y="5779008"/>
            <a:ext cx="116128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5779008"/>
            <a:ext cx="91440" cy="50292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5" name="Text 11"/>
          <p:cNvSpPr/>
          <p:nvPr/>
        </p:nvSpPr>
        <p:spPr>
          <a:xfrm>
            <a:off x="438912" y="5815584"/>
            <a:ext cx="11338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NOTE: The 'Actual Zone Temp' shows current furnace is running hotter than even M1 suggests in most zones. This confirms the furnace setpoints are NOT being managed to recipe — a direct control gap that the M2 model addresses.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LOGIC — How Each Model Computes Zone Setpoints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3794760" cy="5870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379476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1323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ACTUAL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3611880" cy="50292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16152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 ≈ FCE Dropout Temperature observed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79222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2336" y="2066544"/>
            <a:ext cx="182880" cy="1828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29968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 runs at historic/manual setpoints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" y="2578608"/>
            <a:ext cx="182880" cy="1828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42032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temperatures reflect operator judgement, not recipe logic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2336" y="3090672"/>
            <a:ext cx="182880" cy="1828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54096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averages 6–15°C above weighted avg recipe target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2336" y="3602736"/>
            <a:ext cx="182880" cy="1828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66160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adjustment for grade mix changes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2336" y="4114800"/>
            <a:ext cx="182880" cy="1828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78224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39–91% of slabs are overheated across schedules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919472"/>
            <a:ext cx="3611880" cy="21945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37760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5166360"/>
            <a:ext cx="3611880" cy="1143000"/>
          </a:xfrm>
          <a:prstGeom prst="rect">
            <a:avLst/>
          </a:prstGeom>
          <a:solidFill>
            <a:srgbClr val="FFE6E6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521208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optimised — over-fires all grades for majority of schedule duration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51960" y="658368"/>
            <a:ext cx="3794760" cy="5870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658368"/>
            <a:ext cx="3794760" cy="457200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27" name="Text 25"/>
          <p:cNvSpPr/>
          <p:nvPr/>
        </p:nvSpPr>
        <p:spPr>
          <a:xfrm>
            <a:off x="4343400" y="71323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MAX SETPOINT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43400" y="1188720"/>
            <a:ext cx="3611880" cy="50292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0" y="1216152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389120" y="1389888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= max(Recipe₁, Recipe₂, ... , Recipeₙ)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43400" y="179222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379976" y="2066544"/>
            <a:ext cx="182880" cy="182880"/>
          </a:xfrm>
          <a:prstGeom prst="ellipse">
            <a:avLst/>
          </a:prstGeom>
          <a:solidFill>
            <a:srgbClr val="922B21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2029968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highest recipe temp among ALL slabs in furnace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79976" y="2578608"/>
            <a:ext cx="182880" cy="182880"/>
          </a:xfrm>
          <a:prstGeom prst="ellipse">
            <a:avLst/>
          </a:prstGeom>
          <a:solidFill>
            <a:srgbClr val="922B21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2542032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all 8 zone targets to: SP + zone-specific offset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79976" y="3090672"/>
            <a:ext cx="182880" cy="182880"/>
          </a:xfrm>
          <a:prstGeom prst="ellipse">
            <a:avLst/>
          </a:prstGeom>
          <a:solidFill>
            <a:srgbClr val="922B21"/>
          </a:solidFill>
          <a:ln/>
        </p:spPr>
      </p:sp>
      <p:sp>
        <p:nvSpPr>
          <p:cNvPr id="37" name="Text 35"/>
          <p:cNvSpPr/>
          <p:nvPr/>
        </p:nvSpPr>
        <p:spPr>
          <a:xfrm>
            <a:off x="4617720" y="3054096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Offsets: Z3 +77°C, Z4 +71°C, Z5–Z7 +15–18°C, Z1/Z8 +6–8°C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79976" y="3602736"/>
            <a:ext cx="182880" cy="182880"/>
          </a:xfrm>
          <a:prstGeom prst="ellipse">
            <a:avLst/>
          </a:prstGeom>
          <a:solidFill>
            <a:srgbClr val="922B21"/>
          </a:solidFill>
          <a:ln/>
        </p:spPr>
      </p:sp>
      <p:sp>
        <p:nvSpPr>
          <p:cNvPr id="39" name="Text 37"/>
          <p:cNvSpPr/>
          <p:nvPr/>
        </p:nvSpPr>
        <p:spPr>
          <a:xfrm>
            <a:off x="4617720" y="3566160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slab guaranteed to reach its recipe temperature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79976" y="4114800"/>
            <a:ext cx="182880" cy="182880"/>
          </a:xfrm>
          <a:prstGeom prst="ellipse">
            <a:avLst/>
          </a:prstGeom>
          <a:solidFill>
            <a:srgbClr val="922B21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4078224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lower-recipe grades heated to max — not their own recipe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43400" y="4919472"/>
            <a:ext cx="3611880" cy="219456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43" name="Text 41"/>
          <p:cNvSpPr/>
          <p:nvPr/>
        </p:nvSpPr>
        <p:spPr>
          <a:xfrm>
            <a:off x="4343400" y="4937760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43400" y="5166360"/>
            <a:ext cx="3611880" cy="1143000"/>
          </a:xfrm>
          <a:prstGeom prst="rect">
            <a:avLst/>
          </a:prstGeom>
          <a:solidFill>
            <a:srgbClr val="FFE6E6"/>
          </a:solidFill>
          <a:ln/>
        </p:spPr>
      </p:sp>
      <p:sp>
        <p:nvSpPr>
          <p:cNvPr id="45" name="Text 43"/>
          <p:cNvSpPr/>
          <p:nvPr/>
        </p:nvSpPr>
        <p:spPr>
          <a:xfrm>
            <a:off x="4389120" y="521208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Quality safe but systematically overheats lower-T grades by full spread (up to 20°C)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658368"/>
            <a:ext cx="3794760" cy="5870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229600" y="658368"/>
            <a:ext cx="3794760" cy="457200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48" name="Text 46"/>
          <p:cNvSpPr/>
          <p:nvPr/>
        </p:nvSpPr>
        <p:spPr>
          <a:xfrm>
            <a:off x="8321040" y="71323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WEIGHTED AVERAGE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321040" y="1188720"/>
            <a:ext cx="3611880" cy="50292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50" name="Text 48"/>
          <p:cNvSpPr/>
          <p:nvPr/>
        </p:nvSpPr>
        <p:spPr>
          <a:xfrm>
            <a:off x="8366760" y="1216152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366760" y="1389888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= Σ(Massᵢ × Recipeᵢ) / ΣMassᵢ  +  5°C safety buffer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321040" y="179222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357616" y="2066544"/>
            <a:ext cx="182880" cy="182880"/>
          </a:xfrm>
          <a:prstGeom prst="ellipse">
            <a:avLst/>
          </a:prstGeom>
          <a:solidFill>
            <a:srgbClr val="145A32"/>
          </a:solidFill>
          <a:ln/>
        </p:spPr>
      </p:sp>
      <p:sp>
        <p:nvSpPr>
          <p:cNvPr id="54" name="Text 52"/>
          <p:cNvSpPr/>
          <p:nvPr/>
        </p:nvSpPr>
        <p:spPr>
          <a:xfrm>
            <a:off x="8595360" y="2029968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mass-weighted average of all recipe temps in furnace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357616" y="2578608"/>
            <a:ext cx="182880" cy="182880"/>
          </a:xfrm>
          <a:prstGeom prst="ellipse">
            <a:avLst/>
          </a:prstGeom>
          <a:solidFill>
            <a:srgbClr val="145A32"/>
          </a:solidFill>
          <a:ln/>
        </p:spPr>
      </p:sp>
      <p:sp>
        <p:nvSpPr>
          <p:cNvPr id="56" name="Text 54"/>
          <p:cNvSpPr/>
          <p:nvPr/>
        </p:nvSpPr>
        <p:spPr>
          <a:xfrm>
            <a:off x="8595360" y="2542032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5°C safety buffer above raw weighted average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357616" y="3090672"/>
            <a:ext cx="182880" cy="182880"/>
          </a:xfrm>
          <a:prstGeom prst="ellipse">
            <a:avLst/>
          </a:prstGeom>
          <a:solidFill>
            <a:srgbClr val="145A32"/>
          </a:solidFill>
          <a:ln/>
        </p:spPr>
      </p:sp>
      <p:sp>
        <p:nvSpPr>
          <p:cNvPr id="58" name="Text 56"/>
          <p:cNvSpPr/>
          <p:nvPr/>
        </p:nvSpPr>
        <p:spPr>
          <a:xfrm>
            <a:off x="8595360" y="3054096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setpoints = SP + same zone-specific offsets as M1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357616" y="3602736"/>
            <a:ext cx="182880" cy="182880"/>
          </a:xfrm>
          <a:prstGeom prst="ellipse">
            <a:avLst/>
          </a:prstGeom>
          <a:solidFill>
            <a:srgbClr val="145A32"/>
          </a:solidFill>
          <a:ln/>
        </p:spPr>
      </p:sp>
      <p:sp>
        <p:nvSpPr>
          <p:cNvPr id="60" name="Text 58"/>
          <p:cNvSpPr/>
          <p:nvPr/>
        </p:nvSpPr>
        <p:spPr>
          <a:xfrm>
            <a:off x="8595360" y="3566160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setpoint reduces gas to Z1 &amp; Z2 (66% of total energy)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357616" y="4114800"/>
            <a:ext cx="182880" cy="182880"/>
          </a:xfrm>
          <a:prstGeom prst="ellipse">
            <a:avLst/>
          </a:prstGeom>
          <a:solidFill>
            <a:srgbClr val="145A32"/>
          </a:solidFill>
          <a:ln/>
        </p:spPr>
      </p:sp>
      <p:sp>
        <p:nvSpPr>
          <p:cNvPr id="62" name="Text 60"/>
          <p:cNvSpPr/>
          <p:nvPr/>
        </p:nvSpPr>
        <p:spPr>
          <a:xfrm>
            <a:off x="8595360" y="4078224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Override: if any grade recipe &gt; wtavg+10°C, zone boost applied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321040" y="4919472"/>
            <a:ext cx="3611880" cy="219456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64" name="Text 62"/>
          <p:cNvSpPr/>
          <p:nvPr/>
        </p:nvSpPr>
        <p:spPr>
          <a:xfrm>
            <a:off x="8321040" y="4937760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321040" y="5166360"/>
            <a:ext cx="3611880" cy="1143000"/>
          </a:xfrm>
          <a:prstGeom prst="rect">
            <a:avLst/>
          </a:prstGeom>
          <a:solidFill>
            <a:srgbClr val="E6FFE6"/>
          </a:solidFill>
          <a:ln/>
        </p:spPr>
      </p:sp>
      <p:sp>
        <p:nvSpPr>
          <p:cNvPr id="66" name="Text 64"/>
          <p:cNvSpPr/>
          <p:nvPr/>
        </p:nvSpPr>
        <p:spPr>
          <a:xfrm>
            <a:off x="8366760" y="521208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Energy optimised · 1–7% fuel saving · Quality maintained via buffer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11960352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RECOMMENDATIONS &amp; IMPLEMENTATION PATH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6 production schedules, 601 slabs, Nov 2025–Jan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11430000" cy="1261872"/>
          </a:xfrm>
          <a:prstGeom prst="rect">
            <a:avLst/>
          </a:prstGeom>
          <a:solidFill>
            <a:srgbClr val="11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11430000" cy="6400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9576"/>
            <a:ext cx="640080" cy="38404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7957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43000" y="1207008"/>
            <a:ext cx="1371600" cy="25603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1207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606040" y="1207008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M2 (Weighted Average) as Default Setpoint 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1517904"/>
            <a:ext cx="10607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schedules with recipe spread &lt;20°C and no new grades under trial, compute mass-weighted average recipe and add 5°C buffer. This single change eliminates 70–91% over-firing in affected schedules. Expected saving: 1–7% fuel per schedule.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11430000" cy="1261872"/>
          </a:xfrm>
          <a:prstGeom prst="rect">
            <a:avLst/>
          </a:prstGeom>
          <a:solidFill>
            <a:srgbClr val="11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05456"/>
            <a:ext cx="11430000" cy="640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569464"/>
            <a:ext cx="640080" cy="38404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6946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43000" y="2596896"/>
            <a:ext cx="1371600" cy="2560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25968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IMPROVEMENT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06040" y="259689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Real-time Grade Mix Tracking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2907792"/>
            <a:ext cx="10607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L2 schedule system to furnace setpoint controller. At each slab charge event, recompute weighted average of all slabs currently in furnace. Update zone setpoints automatically. Current gap: operators set zones manually to max recipe without grade-mix visibility.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895344"/>
            <a:ext cx="11430000" cy="1261872"/>
          </a:xfrm>
          <a:prstGeom prst="rect">
            <a:avLst/>
          </a:prstGeom>
          <a:solidFill>
            <a:srgbClr val="11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95344"/>
            <a:ext cx="11430000" cy="64008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959352"/>
            <a:ext cx="640080" cy="384048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593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143000" y="3986784"/>
            <a:ext cx="1371600" cy="25603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39867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SAFEGUARD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606040" y="3986784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M1 Override for Specific Scenarios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" y="4297680"/>
            <a:ext cx="10607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M1 (Max Setpoint) active when: (a) recipe spread exceeds 20°C, (b) under-heating events &gt;10% of slabs in prior schedule, (c) new grade introduction, (d) after maintenance downtime. Auto-switching logic between M1 and M2 based on these criteria.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5285232"/>
            <a:ext cx="11430000" cy="1261872"/>
          </a:xfrm>
          <a:prstGeom prst="rect">
            <a:avLst/>
          </a:prstGeom>
          <a:solidFill>
            <a:srgbClr val="11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5285232"/>
            <a:ext cx="11430000" cy="64008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5349240"/>
            <a:ext cx="640080" cy="384048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3492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143000" y="5376672"/>
            <a:ext cx="1371600" cy="256032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5" name="Text 33"/>
          <p:cNvSpPr/>
          <p:nvPr/>
        </p:nvSpPr>
        <p:spPr>
          <a:xfrm>
            <a:off x="1143000" y="5376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606040" y="5376672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P5/P25/P75/P95 of FCE vs Recipe Gap Monthly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" y="5687568"/>
            <a:ext cx="10607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single-point FCE target with a distribution-based KPI. Target: P5–P95 FCE band ≤20°C (current: 51°C). Track % slabs overheated by &gt;10°C and % below recipe. Monthly management report comparing M1, M2 and actual performance.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6675120"/>
            <a:ext cx="11430000" cy="0"/>
          </a:xfrm>
          <a:prstGeom prst="rect">
            <a:avLst/>
          </a:prstGeom>
          <a:solidFill>
            <a:srgbClr val="0A7E8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2026-04-02T05:28:13Z</dcterms:created>
  <dcterms:modified xsi:type="dcterms:W3CDTF">2026-04-02T05:28:13Z</dcterms:modified>
</cp:coreProperties>
</file>