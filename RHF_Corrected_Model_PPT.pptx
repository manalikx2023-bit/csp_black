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M1 Max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S19</c:v>
                  </c:pt>
                  <c:pt idx="1">
                    <c:v>S15</c:v>
                  </c:pt>
                  <c:pt idx="2">
                    <c:v>S14</c:v>
                  </c:pt>
                  <c:pt idx="3">
                    <c:v>S18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1240.2</c:v>
                </c:pt>
                <c:pt idx="1">
                  <c:v>1240.2</c:v>
                </c:pt>
                <c:pt idx="2">
                  <c:v>1240.2</c:v>
                </c:pt>
                <c:pt idx="3">
                  <c:v>1240.2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M2 WtAvg+5°C</c:v>
                </c:pt>
              </c:strCache>
            </c:strRef>
          </c:tx>
          <c:spPr>
            <a:solidFill>
              <a:srgbClr val="1E84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S19</c:v>
                  </c:pt>
                  <c:pt idx="1">
                    <c:v>S15</c:v>
                  </c:pt>
                  <c:pt idx="2">
                    <c:v>S14</c:v>
                  </c:pt>
                  <c:pt idx="3">
                    <c:v>S18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1233.3</c:v>
                </c:pt>
                <c:pt idx="1">
                  <c:v>1231.1</c:v>
                </c:pt>
                <c:pt idx="2">
                  <c:v>1232.1</c:v>
                </c:pt>
                <c:pt idx="3">
                  <c:v>1236.6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M3 RTWt+5°C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S19</c:v>
                  </c:pt>
                  <c:pt idx="1">
                    <c:v>S15</c:v>
                  </c:pt>
                  <c:pt idx="2">
                    <c:v>S14</c:v>
                  </c:pt>
                  <c:pt idx="3">
                    <c:v>S18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1232.1</c:v>
                </c:pt>
                <c:pt idx="1">
                  <c:v>1230.3</c:v>
                </c:pt>
                <c:pt idx="2">
                  <c:v>1231.5</c:v>
                </c:pt>
                <c:pt idx="3">
                  <c:v>1235.5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Actual FCE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S19</c:v>
                  </c:pt>
                  <c:pt idx="1">
                    <c:v>S15</c:v>
                  </c:pt>
                  <c:pt idx="2">
                    <c:v>S14</c:v>
                  </c:pt>
                  <c:pt idx="3">
                    <c:v>S18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1243.2</c:v>
                </c:pt>
                <c:pt idx="1">
                  <c:v>1245.1</c:v>
                </c:pt>
                <c:pt idx="2">
                  <c:v>1231.8</c:v>
                </c:pt>
                <c:pt idx="3">
                  <c:v>1250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60"/>
          <c:min val="12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Zone Setpoint (°C) by Zone — Schedule 20260018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M1 Max Setpoint (1240.2°C)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Z1</c:v>
                  </c:pt>
                  <c:pt idx="1">
                    <c:v>Z2</c:v>
                  </c:pt>
                  <c:pt idx="2">
                    <c:v>Z3</c:v>
                  </c:pt>
                  <c:pt idx="3">
                    <c:v>Z4</c:v>
                  </c:pt>
                  <c:pt idx="4">
                    <c:v>Z5</c:v>
                  </c:pt>
                  <c:pt idx="5">
                    <c:v>Z6</c:v>
                  </c:pt>
                  <c:pt idx="6">
                    <c:v>Z7</c:v>
                  </c:pt>
                  <c:pt idx="7">
                    <c:v>Z8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1246.1</c:v>
                </c:pt>
                <c:pt idx="1">
                  <c:v>1243.2</c:v>
                </c:pt>
                <c:pt idx="2">
                  <c:v>1317.6</c:v>
                </c:pt>
                <c:pt idx="3">
                  <c:v>1311.1</c:v>
                </c:pt>
                <c:pt idx="4">
                  <c:v>1257.8</c:v>
                </c:pt>
                <c:pt idx="5">
                  <c:v>1254.3</c:v>
                </c:pt>
                <c:pt idx="6">
                  <c:v>1256.9</c:v>
                </c:pt>
                <c:pt idx="7">
                  <c:v>1247.8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M2 WtAvg+5°C (1236.6°C)</c:v>
                </c:pt>
              </c:strCache>
            </c:strRef>
          </c:tx>
          <c:spPr>
            <a:solidFill>
              <a:srgbClr val="1E8449"/>
            </a:solidFill>
            <a:ln w="31750" cap="flat">
              <a:solidFill>
                <a:srgbClr val="1E84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8449"/>
              </a:solidFill>
              <a:ln w="9525" cap="flat">
                <a:solidFill>
                  <a:srgbClr val="1E84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Z1</c:v>
                  </c:pt>
                  <c:pt idx="1">
                    <c:v>Z2</c:v>
                  </c:pt>
                  <c:pt idx="2">
                    <c:v>Z3</c:v>
                  </c:pt>
                  <c:pt idx="3">
                    <c:v>Z4</c:v>
                  </c:pt>
                  <c:pt idx="4">
                    <c:v>Z5</c:v>
                  </c:pt>
                  <c:pt idx="5">
                    <c:v>Z6</c:v>
                  </c:pt>
                  <c:pt idx="6">
                    <c:v>Z7</c:v>
                  </c:pt>
                  <c:pt idx="7">
                    <c:v>Z8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1242.5</c:v>
                </c:pt>
                <c:pt idx="1">
                  <c:v>1239.6</c:v>
                </c:pt>
                <c:pt idx="2">
                  <c:v>1314</c:v>
                </c:pt>
                <c:pt idx="3">
                  <c:v>1307.5</c:v>
                </c:pt>
                <c:pt idx="4">
                  <c:v>1254.2</c:v>
                </c:pt>
                <c:pt idx="5">
                  <c:v>1250.7</c:v>
                </c:pt>
                <c:pt idx="6">
                  <c:v>1253.3</c:v>
                </c:pt>
                <c:pt idx="7">
                  <c:v>1244.2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M3 RT-Wtd+5°C (1235.5°C)</c:v>
                </c:pt>
              </c:strCache>
            </c:strRef>
          </c:tx>
          <c:spPr>
            <a:solidFill>
              <a:srgbClr val="0A7E8C"/>
            </a:solidFill>
            <a:ln w="31750" cap="flat">
              <a:solidFill>
                <a:srgbClr val="0A7E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A7E8C"/>
              </a:solidFill>
              <a:ln w="9525" cap="flat">
                <a:solidFill>
                  <a:srgbClr val="0A7E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Z1</c:v>
                  </c:pt>
                  <c:pt idx="1">
                    <c:v>Z2</c:v>
                  </c:pt>
                  <c:pt idx="2">
                    <c:v>Z3</c:v>
                  </c:pt>
                  <c:pt idx="3">
                    <c:v>Z4</c:v>
                  </c:pt>
                  <c:pt idx="4">
                    <c:v>Z5</c:v>
                  </c:pt>
                  <c:pt idx="5">
                    <c:v>Z6</c:v>
                  </c:pt>
                  <c:pt idx="6">
                    <c:v>Z7</c:v>
                  </c:pt>
                  <c:pt idx="7">
                    <c:v>Z8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1241.4</c:v>
                </c:pt>
                <c:pt idx="1">
                  <c:v>1238.5</c:v>
                </c:pt>
                <c:pt idx="2">
                  <c:v>1312.9</c:v>
                </c:pt>
                <c:pt idx="3">
                  <c:v>1306.4</c:v>
                </c:pt>
                <c:pt idx="4">
                  <c:v>1253.1</c:v>
                </c:pt>
                <c:pt idx="5">
                  <c:v>1249.6</c:v>
                </c:pt>
                <c:pt idx="6">
                  <c:v>1252.2</c:v>
                </c:pt>
                <c:pt idx="7">
                  <c:v>1243.1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Actual FCE Dropout</c:v>
                </c:pt>
              </c:strCache>
            </c:strRef>
          </c:tx>
          <c:spPr>
            <a:solidFill>
              <a:srgbClr val="F5A623"/>
            </a:solidFill>
            <a:ln w="3175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Z1</c:v>
                  </c:pt>
                  <c:pt idx="1">
                    <c:v>Z2</c:v>
                  </c:pt>
                  <c:pt idx="2">
                    <c:v>Z3</c:v>
                  </c:pt>
                  <c:pt idx="3">
                    <c:v>Z4</c:v>
                  </c:pt>
                  <c:pt idx="4">
                    <c:v>Z5</c:v>
                  </c:pt>
                  <c:pt idx="5">
                    <c:v>Z6</c:v>
                  </c:pt>
                  <c:pt idx="6">
                    <c:v>Z7</c:v>
                  </c:pt>
                  <c:pt idx="7">
                    <c:v>Z8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1250</c:v>
                </c:pt>
                <c:pt idx="1">
                  <c:v>1250</c:v>
                </c:pt>
                <c:pt idx="2">
                  <c:v>1250</c:v>
                </c:pt>
                <c:pt idx="3">
                  <c:v>1250</c:v>
                </c:pt>
                <c:pt idx="4">
                  <c:v>1250</c:v>
                </c:pt>
                <c:pt idx="5">
                  <c:v>1250</c:v>
                </c:pt>
                <c:pt idx="6">
                  <c:v>1250</c:v>
                </c:pt>
                <c:pt idx="7">
                  <c:v>1250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Max Recipe Target</c:v>
                </c:pt>
              </c:strCache>
            </c:strRef>
          </c:tx>
          <c:spPr>
            <a:solidFill>
              <a:srgbClr val="AAAAAA"/>
            </a:solidFill>
            <a:ln w="31750" cap="flat">
              <a:solidFill>
                <a:srgbClr val="AAAA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Z1</c:v>
                  </c:pt>
                  <c:pt idx="1">
                    <c:v>Z2</c:v>
                  </c:pt>
                  <c:pt idx="2">
                    <c:v>Z3</c:v>
                  </c:pt>
                  <c:pt idx="3">
                    <c:v>Z4</c:v>
                  </c:pt>
                  <c:pt idx="4">
                    <c:v>Z5</c:v>
                  </c:pt>
                  <c:pt idx="5">
                    <c:v>Z6</c:v>
                  </c:pt>
                  <c:pt idx="6">
                    <c:v>Z7</c:v>
                  </c:pt>
                  <c:pt idx="7">
                    <c:v>Z8</c:v>
                  </c:pt>
                </c:lvl>
              </c:multiLvlStrCache>
            </c:multiLvl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1240.2</c:v>
                </c:pt>
                <c:pt idx="1">
                  <c:v>1240.2</c:v>
                </c:pt>
                <c:pt idx="2">
                  <c:v>1240.2</c:v>
                </c:pt>
                <c:pt idx="3">
                  <c:v>1240.2</c:v>
                </c:pt>
                <c:pt idx="4">
                  <c:v>1240.2</c:v>
                </c:pt>
                <c:pt idx="5">
                  <c:v>1240.2</c:v>
                </c:pt>
                <c:pt idx="6">
                  <c:v>1240.2</c:v>
                </c:pt>
                <c:pt idx="7">
                  <c:v>1240.2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40"/>
          <c:min val="12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11960352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REHEATING FURNACE ZONE SETPOINT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Model · Real Schedules · Interactive Prototype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 RHF#1  ·  Nov 2025–Jan 2026  ·  19,406 Slabs  ·  4 Real Schedules Compared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1247120" cy="146304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65960"/>
            <a:ext cx="109728" cy="1463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0116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ADDRESSED IN THIS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" y="2286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"Zone 8 temperature appears lower than FCE dropout — is this wrong?"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" y="2596896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Z8 is an EQUALISING zone, not a heating zone. The slab arrives at Z8 already at ~1,310°C from soaking zones (Z3/Z4). Z8 homogenises top-bottom temperature differences before discharge. The FCE pyrometer reads slab surface temperature at exit — driven by stored soaking heat, moderated by Z8's cooler atmosphere. This is physically correct.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1316736" cy="82296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63931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Preheat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Offset: +6°C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65376" y="3611880"/>
            <a:ext cx="1316736" cy="822960"/>
          </a:xfrm>
          <a:prstGeom prst="rect">
            <a:avLst/>
          </a:prstGeom>
          <a:solidFill>
            <a:srgbClr val="1A6EA8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65376" y="363931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Preheat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65376" y="411480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Offset: +3°C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73552" y="3611880"/>
            <a:ext cx="1316736" cy="8229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73552" y="363931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73552" y="411480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Offset: +77°C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81728" y="3611880"/>
            <a:ext cx="1316736" cy="822960"/>
          </a:xfrm>
          <a:prstGeom prst="rect">
            <a:avLst/>
          </a:prstGeom>
          <a:solidFill>
            <a:srgbClr val="922B21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81728" y="363931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1728" y="411480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Offset: +71°C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89904" y="3611880"/>
            <a:ext cx="1316736" cy="82296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9904" y="363931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9904" y="411480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Offset: +18°C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498080" y="3611880"/>
            <a:ext cx="1316736" cy="822960"/>
          </a:xfrm>
          <a:prstGeom prst="rect">
            <a:avLst/>
          </a:prstGeom>
          <a:solidFill>
            <a:srgbClr val="D35400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98080" y="363931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0" y="411480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Offset: +14°C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906256" y="3611880"/>
            <a:ext cx="1316736" cy="822960"/>
          </a:xfrm>
          <a:prstGeom prst="rect">
            <a:avLst/>
          </a:prstGeom>
          <a:solidFill>
            <a:srgbClr val="D35400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906256" y="363931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06256" y="411480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Offset: +17°C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314432" y="3611880"/>
            <a:ext cx="1316736" cy="822960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0314432" y="363931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14432" y="411480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Offset: +8°C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" y="4572000"/>
            <a:ext cx="11109960" cy="0"/>
          </a:xfrm>
          <a:prstGeom prst="line">
            <a:avLst/>
          </a:prstGeom>
          <a:noFill/>
          <a:ln w="10160">
            <a:solidFill>
              <a:srgbClr val="7A8B9A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57200" y="46177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Slab travels this direction through furnace 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931920" y="4919472"/>
            <a:ext cx="429768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3931920" y="493776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Dropout = Slab surface temp at exit. Driven by Z3/Z4 soaking heat, NOT Z8 atmosphere.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5440680"/>
            <a:ext cx="2651760" cy="1234440"/>
          </a:xfrm>
          <a:prstGeom prst="rect">
            <a:avLst/>
          </a:prstGeom>
          <a:solidFill>
            <a:srgbClr val="122436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5440680"/>
            <a:ext cx="26517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554126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+77°C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457200" y="60350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Soaking Offset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91840" y="5440680"/>
            <a:ext cx="2651760" cy="1234440"/>
          </a:xfrm>
          <a:prstGeom prst="rect">
            <a:avLst/>
          </a:prstGeom>
          <a:solidFill>
            <a:srgbClr val="122436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91840" y="5440680"/>
            <a:ext cx="26517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3291840" y="554126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+71°C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3291840" y="60350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 Soaking Offset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26480" y="5440680"/>
            <a:ext cx="2651760" cy="1234440"/>
          </a:xfrm>
          <a:prstGeom prst="rect">
            <a:avLst/>
          </a:prstGeom>
          <a:solidFill>
            <a:srgbClr val="122436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26480" y="5440680"/>
            <a:ext cx="2651760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50" name="Text 48"/>
          <p:cNvSpPr/>
          <p:nvPr/>
        </p:nvSpPr>
        <p:spPr>
          <a:xfrm>
            <a:off x="6126480" y="554126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+8°C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6126480" y="60350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 Equalising Offset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961120" y="5440680"/>
            <a:ext cx="2651760" cy="1234440"/>
          </a:xfrm>
          <a:prstGeom prst="rect">
            <a:avLst/>
          </a:prstGeom>
          <a:solidFill>
            <a:srgbClr val="122436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961120" y="5440680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4" name="Text 52"/>
          <p:cNvSpPr/>
          <p:nvPr/>
        </p:nvSpPr>
        <p:spPr>
          <a:xfrm>
            <a:off x="8961120" y="554126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~1,238°C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8961120" y="60350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Dropout Mean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ZONE TEMPERATURE MODEL — Offset Above Recipe Target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19,406 real slabs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852160" cy="5760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40080"/>
            <a:ext cx="5852160" cy="42062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949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Setpoint = Recipe Target + Zone-Specific Offset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133856"/>
            <a:ext cx="548640" cy="5120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33856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7552" y="1170432"/>
            <a:ext cx="1645920" cy="438912"/>
          </a:xfrm>
          <a:prstGeom prst="rect">
            <a:avLst/>
          </a:prstGeom>
          <a:solidFill>
            <a:srgbClr val="EAF5FB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1188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+6°C → 1237°C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17043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Preheat entry. Cold slab warm-up. Modest offset — slab not yet in thermal contact.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746504"/>
            <a:ext cx="548640" cy="512064"/>
          </a:xfrm>
          <a:prstGeom prst="rect">
            <a:avLst/>
          </a:prstGeom>
          <a:solidFill>
            <a:srgbClr val="1A6EA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746504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87552" y="1783080"/>
            <a:ext cx="1645920" cy="438912"/>
          </a:xfrm>
          <a:prstGeom prst="rect">
            <a:avLst/>
          </a:prstGeom>
          <a:solidFill>
            <a:srgbClr val="EA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18013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+3°C → 1234°C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17830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preheat. Small offset — transitioning to higher-T zones.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359152"/>
            <a:ext cx="548640" cy="5120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359152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7552" y="2395728"/>
            <a:ext cx="1645920" cy="438912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241401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+77°C → 1308°C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239572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SOAKING ZONE. Furnace atmosphere hottest here — drives core temperature.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971800"/>
            <a:ext cx="548640" cy="512064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971800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87552" y="3008376"/>
            <a:ext cx="1645920" cy="438912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" y="302666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+71°C → 1301°C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300837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soaking. Maintains slab core at target. Still far above exit temp.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584448"/>
            <a:ext cx="548640" cy="5120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58444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87552" y="3621024"/>
            <a:ext cx="1645920" cy="438912"/>
          </a:xfrm>
          <a:prstGeom prst="rect">
            <a:avLst/>
          </a:prstGeom>
          <a:solidFill>
            <a:srgbClr val="EAF5FB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36393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+18°C → 1248°C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362102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transition. Slab core near target. Reduced zone–slab ΔT.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197096"/>
            <a:ext cx="548640" cy="512064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197096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87552" y="4233672"/>
            <a:ext cx="1645920" cy="438912"/>
          </a:xfrm>
          <a:prstGeom prst="rect">
            <a:avLst/>
          </a:prstGeom>
          <a:solidFill>
            <a:srgbClr val="EAF5FB"/>
          </a:solidFill>
          <a:ln/>
        </p:spPr>
      </p:sp>
      <p:sp>
        <p:nvSpPr>
          <p:cNvPr id="36" name="Text 34"/>
          <p:cNvSpPr/>
          <p:nvPr/>
        </p:nvSpPr>
        <p:spPr>
          <a:xfrm>
            <a:off x="987552" y="42519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+14°C → 1245°C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0" y="423367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heating. Slab and atmosphere converge.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4809744"/>
            <a:ext cx="548640" cy="512064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809744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87552" y="4846320"/>
            <a:ext cx="1645920" cy="438912"/>
          </a:xfrm>
          <a:prstGeom prst="rect">
            <a:avLst/>
          </a:prstGeom>
          <a:solidFill>
            <a:srgbClr val="EAF5FB"/>
          </a:solidFill>
          <a:ln/>
        </p:spPr>
      </p:sp>
      <p:sp>
        <p:nvSpPr>
          <p:cNvPr id="41" name="Text 39"/>
          <p:cNvSpPr/>
          <p:nvPr/>
        </p:nvSpPr>
        <p:spPr>
          <a:xfrm>
            <a:off x="987552" y="48646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+17°C → 1247°C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0" y="48463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heating. Atm slightly above slab for last push.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422392"/>
            <a:ext cx="548640" cy="5120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5422392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87552" y="5458968"/>
            <a:ext cx="1645920" cy="438912"/>
          </a:xfrm>
          <a:prstGeom prst="rect">
            <a:avLst/>
          </a:prstGeom>
          <a:solidFill>
            <a:srgbClr val="EAF5FB"/>
          </a:solidFill>
          <a:ln/>
        </p:spPr>
      </p:sp>
      <p:sp>
        <p:nvSpPr>
          <p:cNvPr id="46" name="Text 44"/>
          <p:cNvSpPr/>
          <p:nvPr/>
        </p:nvSpPr>
        <p:spPr>
          <a:xfrm>
            <a:off x="987552" y="54772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+8°C → 1237°C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743200" y="545896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EQUALISING ZONE. Homogenises top-bottom ΔT. Atm ≈ slab surface. Can be ≤ FCE dropout.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55080" y="640080"/>
            <a:ext cx="5532120" cy="5760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355080" y="640080"/>
            <a:ext cx="5532120" cy="42062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50" name="Text 48"/>
          <p:cNvSpPr/>
          <p:nvPr/>
        </p:nvSpPr>
        <p:spPr>
          <a:xfrm>
            <a:off x="6446520" y="694944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Temperature Profile vs FCE Dropout (Recipe = 1230°C example)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73952" y="5248656"/>
            <a:ext cx="512064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28232" y="3792768"/>
            <a:ext cx="52120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8961120" y="35916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Dropout ~1238°C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428232" y="4099271"/>
            <a:ext cx="5212080" cy="0"/>
          </a:xfrm>
          <a:prstGeom prst="line">
            <a:avLst/>
          </a:prstGeom>
          <a:noFill/>
          <a:ln w="19050">
            <a:solidFill>
              <a:srgbClr val="1E8449"/>
            </a:solidFill>
            <a:prstDash val="lgDash"/>
          </a:ln>
        </p:spPr>
      </p:sp>
      <p:sp>
        <p:nvSpPr>
          <p:cNvPr id="55" name="Text 53"/>
          <p:cNvSpPr/>
          <p:nvPr/>
        </p:nvSpPr>
        <p:spPr>
          <a:xfrm>
            <a:off x="8961120" y="3898103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1230°C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473952" y="3873225"/>
            <a:ext cx="475488" cy="1375431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7" name="Text 55"/>
          <p:cNvSpPr/>
          <p:nvPr/>
        </p:nvSpPr>
        <p:spPr>
          <a:xfrm>
            <a:off x="6473952" y="524865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73952" y="3672057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1236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141464" y="3984332"/>
            <a:ext cx="475488" cy="1264324"/>
          </a:xfrm>
          <a:prstGeom prst="rect">
            <a:avLst/>
          </a:prstGeom>
          <a:solidFill>
            <a:srgbClr val="1A6EA8"/>
          </a:solidFill>
          <a:ln/>
        </p:spPr>
      </p:sp>
      <p:sp>
        <p:nvSpPr>
          <p:cNvPr id="60" name="Text 58"/>
          <p:cNvSpPr/>
          <p:nvPr/>
        </p:nvSpPr>
        <p:spPr>
          <a:xfrm>
            <a:off x="7141464" y="524865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141464" y="3783164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1233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808976" y="1133856"/>
            <a:ext cx="475488" cy="4114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3" name="Text 61"/>
          <p:cNvSpPr/>
          <p:nvPr/>
        </p:nvSpPr>
        <p:spPr>
          <a:xfrm>
            <a:off x="7808976" y="524865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808976" y="932688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1307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476488" y="1382890"/>
            <a:ext cx="475488" cy="3865766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66" name="Text 64"/>
          <p:cNvSpPr/>
          <p:nvPr/>
        </p:nvSpPr>
        <p:spPr>
          <a:xfrm>
            <a:off x="8476488" y="524865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476488" y="118172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1301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144000" y="3424964"/>
            <a:ext cx="475488" cy="18236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9" name="Text 67"/>
          <p:cNvSpPr/>
          <p:nvPr/>
        </p:nvSpPr>
        <p:spPr>
          <a:xfrm>
            <a:off x="9144000" y="524865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144000" y="3223796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1248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811512" y="3559059"/>
            <a:ext cx="475488" cy="1689597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72" name="Text 70"/>
          <p:cNvSpPr/>
          <p:nvPr/>
        </p:nvSpPr>
        <p:spPr>
          <a:xfrm>
            <a:off x="9811512" y="524865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9811512" y="3357891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0479024" y="3459446"/>
            <a:ext cx="475488" cy="178921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75" name="Text 73"/>
          <p:cNvSpPr/>
          <p:nvPr/>
        </p:nvSpPr>
        <p:spPr>
          <a:xfrm>
            <a:off x="10479024" y="524865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0479024" y="3258278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1247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1146536" y="3808093"/>
            <a:ext cx="475488" cy="1440563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78" name="Text 76"/>
          <p:cNvSpPr/>
          <p:nvPr/>
        </p:nvSpPr>
        <p:spPr>
          <a:xfrm>
            <a:off x="11146536" y="524865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1146536" y="3606925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1238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364224" y="51389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428232" y="5248656"/>
            <a:ext cx="73152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64224" y="322328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1250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428232" y="3333014"/>
            <a:ext cx="73152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64224" y="1307643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1300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428232" y="1417371"/>
            <a:ext cx="73152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64224" y="-607999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1350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428232" y="-498271"/>
            <a:ext cx="73152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64224" y="-252364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428232" y="-2413914"/>
            <a:ext cx="73152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355080" y="5614416"/>
            <a:ext cx="5532120" cy="65836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91" name="Shape 89"/>
          <p:cNvSpPr/>
          <p:nvPr/>
        </p:nvSpPr>
        <p:spPr>
          <a:xfrm>
            <a:off x="6355080" y="5614416"/>
            <a:ext cx="73152" cy="65836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92" name="Text 90"/>
          <p:cNvSpPr/>
          <p:nvPr/>
        </p:nvSpPr>
        <p:spPr>
          <a:xfrm>
            <a:off x="6473952" y="5650992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 (equalising) at 1,237.6°C is BELOW FCE dropout of 1,238°C — correct because slab surface temp retains heat from Z3/Z4 soaking while Z8 atmosphere is cooler than soaking zones. This is expected furnace physics.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— Logic, Formula &amp; Zone Setpoint Derivation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3794760" cy="5989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3794760" cy="50292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315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MAXIMUM SETPOINT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3611880" cy="45720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61872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= max(R₁, R₂, ..., Rₙ)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9222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2336" y="2066544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029968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HIGHEST recipe temp among all slabs in furnace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2336" y="2542032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505456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all 8 zones to: SP + zone_offset (Z3: +77°C, Z4: +71°C, Z8: +8°C...)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2336" y="3017520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980944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slab guaranteed to reach its recipe — even the hottest grade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2336" y="3493008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456432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Simple: one number, no weighting, no computation risk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4059936"/>
            <a:ext cx="3611880" cy="2377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07822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433425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grades under trial · Quality-critical campaigns · FCE dropout history shows underheating · Spread &gt;18°C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5065776"/>
            <a:ext cx="3611880" cy="237744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508406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5321808"/>
            <a:ext cx="3611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Overheats low-T grades by the full spread amount (e.g. +20°C for 1220°C grades when max=1240°C)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51960" y="658368"/>
            <a:ext cx="3794760" cy="5989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51960" y="658368"/>
            <a:ext cx="3794760" cy="502920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7315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MASS-WEIGHTED AVERAGE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43400" y="1243584"/>
            <a:ext cx="3611880" cy="45720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8" name="Text 26"/>
          <p:cNvSpPr/>
          <p:nvPr/>
        </p:nvSpPr>
        <p:spPr>
          <a:xfrm>
            <a:off x="4343400" y="1261872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= Σ(Wᵢ × Rᵢ) / ΣWᵢ  + 5°C buffer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179222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79976" y="2066544"/>
            <a:ext cx="164592" cy="164592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31" name="Text 29"/>
          <p:cNvSpPr/>
          <p:nvPr/>
        </p:nvSpPr>
        <p:spPr>
          <a:xfrm>
            <a:off x="4599432" y="2029968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each slab's recipe by its mass (heavier slab = more thermal inertia = more weight)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79976" y="2542032"/>
            <a:ext cx="164592" cy="164592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4599432" y="2505456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5°C safety buffer above raw weighted average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79976" y="3017520"/>
            <a:ext cx="164592" cy="164592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35" name="Text 33"/>
          <p:cNvSpPr/>
          <p:nvPr/>
        </p:nvSpPr>
        <p:spPr>
          <a:xfrm>
            <a:off x="4599432" y="2980944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grade recipe &gt; wtavg+10°C → apply zone-level override for that grade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79976" y="3493008"/>
            <a:ext cx="164592" cy="164592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37" name="Text 35"/>
          <p:cNvSpPr/>
          <p:nvPr/>
        </p:nvSpPr>
        <p:spPr>
          <a:xfrm>
            <a:off x="4599432" y="3456432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setpoints = SP + zone_offset (same offsets, lower base SP)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43400" y="4059936"/>
            <a:ext cx="3611880" cy="23774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9" name="Text 37"/>
          <p:cNvSpPr/>
          <p:nvPr/>
        </p:nvSpPr>
        <p:spPr>
          <a:xfrm>
            <a:off x="4343400" y="407822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43400" y="433425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production · Known grade behaviour · Spread 5–15°C · Energy-saving campaigns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43400" y="5065776"/>
            <a:ext cx="3611880" cy="237744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42" name="Text 40"/>
          <p:cNvSpPr/>
          <p:nvPr/>
        </p:nvSpPr>
        <p:spPr>
          <a:xfrm>
            <a:off x="4343400" y="508406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343400" y="5321808"/>
            <a:ext cx="3611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High-recipe grades at tail risk if they are few and lightweight; mitigated by buffer + override rule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229600" y="658368"/>
            <a:ext cx="3794760" cy="5989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29600" y="658368"/>
            <a:ext cx="3794760" cy="502920"/>
          </a:xfrm>
          <a:prstGeom prst="rect">
            <a:avLst/>
          </a:prstGeom>
          <a:solidFill>
            <a:srgbClr val="065A66"/>
          </a:solidFill>
          <a:ln/>
        </p:spPr>
      </p:sp>
      <p:sp>
        <p:nvSpPr>
          <p:cNvPr id="46" name="Text 44"/>
          <p:cNvSpPr/>
          <p:nvPr/>
        </p:nvSpPr>
        <p:spPr>
          <a:xfrm>
            <a:off x="8321040" y="7315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— RESIDENCE-TIME WEIGHTED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21040" y="1243584"/>
            <a:ext cx="3611880" cy="457200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48" name="Text 46"/>
          <p:cNvSpPr/>
          <p:nvPr/>
        </p:nvSpPr>
        <p:spPr>
          <a:xfrm>
            <a:off x="8321040" y="1261872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= Σ(RTᵢ × Rᵢ) / ΣRTᵢ  + 5°C buffer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321040" y="179222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357616" y="2066544"/>
            <a:ext cx="164592" cy="164592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51" name="Text 49"/>
          <p:cNvSpPr/>
          <p:nvPr/>
        </p:nvSpPr>
        <p:spPr>
          <a:xfrm>
            <a:off x="8577072" y="2029968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by residence time: slabs staying longer need more heating → recipe gets more weight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357616" y="2542032"/>
            <a:ext cx="164592" cy="164592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53" name="Text 51"/>
          <p:cNvSpPr/>
          <p:nvPr/>
        </p:nvSpPr>
        <p:spPr>
          <a:xfrm>
            <a:off x="8577072" y="2505456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meaningful: long-RT slabs were likely cold-charged and need proportionally more heat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357616" y="3017520"/>
            <a:ext cx="164592" cy="164592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55" name="Text 53"/>
          <p:cNvSpPr/>
          <p:nvPr/>
        </p:nvSpPr>
        <p:spPr>
          <a:xfrm>
            <a:off x="8577072" y="2980944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thermal demand better when RT varies widely (&gt;40 min spread across grades)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357616" y="3493008"/>
            <a:ext cx="164592" cy="164592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57" name="Text 55"/>
          <p:cNvSpPr/>
          <p:nvPr/>
        </p:nvSpPr>
        <p:spPr>
          <a:xfrm>
            <a:off x="8577072" y="3456432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Hazira, RT spread is moderate — M3 ≈ M2 most hours, but diverges for cold-charge schedules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321040" y="4059936"/>
            <a:ext cx="3611880" cy="23774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59" name="Text 57"/>
          <p:cNvSpPr/>
          <p:nvPr/>
        </p:nvSpPr>
        <p:spPr>
          <a:xfrm>
            <a:off x="8321040" y="407822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321040" y="433425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cold-charging/hot-charging · Wide RT variance (&gt;40 min) · Schedules 20260014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321040" y="5065776"/>
            <a:ext cx="3611880" cy="237744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62" name="Text 60"/>
          <p:cNvSpPr/>
          <p:nvPr/>
        </p:nvSpPr>
        <p:spPr>
          <a:xfrm>
            <a:off x="8321040" y="508406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321040" y="5321808"/>
            <a:ext cx="3611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real-time residence time data; slightly more complex than M2 for similar result on uniform-charge schedules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SCHEDULE COMPARISON — 4 Production Schedules vs 3 Models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249424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8368"/>
            <a:ext cx="22494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0" y="640080"/>
            <a:ext cx="1152144" cy="4754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658368"/>
            <a:ext cx="1152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49040" y="640080"/>
            <a:ext cx="1152144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658368"/>
            <a:ext cx="1152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Max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37760" y="640080"/>
            <a:ext cx="1152144" cy="47548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658368"/>
            <a:ext cx="1152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WtAvg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+5°C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640080"/>
            <a:ext cx="1152144" cy="47548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658368"/>
            <a:ext cx="1152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RTWt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+5°C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0" y="640080"/>
            <a:ext cx="1152144" cy="475488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658368"/>
            <a:ext cx="1152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Below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03920" y="640080"/>
            <a:ext cx="1335024" cy="475488"/>
          </a:xfrm>
          <a:prstGeom prst="rect">
            <a:avLst/>
          </a:prstGeom>
          <a:solidFill>
            <a:srgbClr val="065A66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658368"/>
            <a:ext cx="1335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M1→M2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875520" y="640080"/>
            <a:ext cx="1060704" cy="4754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0" y="658368"/>
            <a:ext cx="1060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1170432"/>
            <a:ext cx="2249424" cy="713232"/>
          </a:xfrm>
          <a:prstGeom prst="rect">
            <a:avLst/>
          </a:prstGeom>
          <a:solidFill>
            <a:srgbClr val="F0F6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1170432"/>
            <a:ext cx="54864" cy="71323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1207008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 20260019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109sl · 16gr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0" y="1170432"/>
            <a:ext cx="1152144" cy="713232"/>
          </a:xfrm>
          <a:prstGeom prst="rect">
            <a:avLst/>
          </a:prstGeom>
          <a:solidFill>
            <a:srgbClr val="F0F6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560320" y="1170432"/>
            <a:ext cx="54864" cy="71323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5" name="Text 23"/>
          <p:cNvSpPr/>
          <p:nvPr/>
        </p:nvSpPr>
        <p:spPr>
          <a:xfrm>
            <a:off x="2633472" y="120700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1243.2°C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1170432"/>
            <a:ext cx="1152144" cy="713232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7" name="Shape 25"/>
          <p:cNvSpPr/>
          <p:nvPr/>
        </p:nvSpPr>
        <p:spPr>
          <a:xfrm>
            <a:off x="3749040" y="1170432"/>
            <a:ext cx="54864" cy="71323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8" name="Text 26"/>
          <p:cNvSpPr/>
          <p:nvPr/>
        </p:nvSpPr>
        <p:spPr>
          <a:xfrm>
            <a:off x="3822192" y="120700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1240.2°C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1170432"/>
            <a:ext cx="1152144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1170432"/>
            <a:ext cx="54864" cy="71323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120700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1233.3°C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1170432"/>
            <a:ext cx="1152144" cy="713232"/>
          </a:xfrm>
          <a:prstGeom prst="rect">
            <a:avLst/>
          </a:prstGeom>
          <a:solidFill>
            <a:srgbClr val="E8F7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126480" y="1170432"/>
            <a:ext cx="54864" cy="71323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4" name="Text 32"/>
          <p:cNvSpPr/>
          <p:nvPr/>
        </p:nvSpPr>
        <p:spPr>
          <a:xfrm>
            <a:off x="6199632" y="120700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1232.1°C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0" y="1170432"/>
            <a:ext cx="1152144" cy="713232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36" name="Shape 34"/>
          <p:cNvSpPr/>
          <p:nvPr/>
        </p:nvSpPr>
        <p:spPr>
          <a:xfrm>
            <a:off x="7315200" y="1170432"/>
            <a:ext cx="54864" cy="71323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7" name="Text 35"/>
          <p:cNvSpPr/>
          <p:nvPr/>
        </p:nvSpPr>
        <p:spPr>
          <a:xfrm>
            <a:off x="7388352" y="120700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03920" y="1170432"/>
            <a:ext cx="1335024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9" name="Shape 37"/>
          <p:cNvSpPr/>
          <p:nvPr/>
        </p:nvSpPr>
        <p:spPr>
          <a:xfrm>
            <a:off x="8503920" y="1170432"/>
            <a:ext cx="54864" cy="71323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0" name="Text 38"/>
          <p:cNvSpPr/>
          <p:nvPr/>
        </p:nvSpPr>
        <p:spPr>
          <a:xfrm>
            <a:off x="8577072" y="1207008"/>
            <a:ext cx="1243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~635 NM3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875520" y="1170432"/>
            <a:ext cx="1060704" cy="713232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42" name="Shape 40"/>
          <p:cNvSpPr/>
          <p:nvPr/>
        </p:nvSpPr>
        <p:spPr>
          <a:xfrm>
            <a:off x="9875520" y="1170432"/>
            <a:ext cx="54864" cy="71323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3" name="Text 41"/>
          <p:cNvSpPr/>
          <p:nvPr/>
        </p:nvSpPr>
        <p:spPr>
          <a:xfrm>
            <a:off x="9948672" y="1207008"/>
            <a:ext cx="969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436608" y="13167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slabs below recipe → M1 for zero risk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1938528"/>
            <a:ext cx="2249424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74320" y="1938528"/>
            <a:ext cx="54864" cy="71323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47" name="Text 45"/>
          <p:cNvSpPr/>
          <p:nvPr/>
        </p:nvSpPr>
        <p:spPr>
          <a:xfrm>
            <a:off x="347472" y="1975104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 20260015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90sl · 20gr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0" y="1938528"/>
            <a:ext cx="1152144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2560320" y="1938528"/>
            <a:ext cx="54864" cy="71323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0" name="Text 48"/>
          <p:cNvSpPr/>
          <p:nvPr/>
        </p:nvSpPr>
        <p:spPr>
          <a:xfrm>
            <a:off x="2633472" y="1975104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1245.1°C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749040" y="1938528"/>
            <a:ext cx="1152144" cy="713232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52" name="Shape 50"/>
          <p:cNvSpPr/>
          <p:nvPr/>
        </p:nvSpPr>
        <p:spPr>
          <a:xfrm>
            <a:off x="3749040" y="1938528"/>
            <a:ext cx="54864" cy="71323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3" name="Text 51"/>
          <p:cNvSpPr/>
          <p:nvPr/>
        </p:nvSpPr>
        <p:spPr>
          <a:xfrm>
            <a:off x="3822192" y="1975104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1240.2°C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937760" y="1938528"/>
            <a:ext cx="1152144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55" name="Shape 53"/>
          <p:cNvSpPr/>
          <p:nvPr/>
        </p:nvSpPr>
        <p:spPr>
          <a:xfrm>
            <a:off x="4937760" y="1938528"/>
            <a:ext cx="54864" cy="71323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6" name="Text 54"/>
          <p:cNvSpPr/>
          <p:nvPr/>
        </p:nvSpPr>
        <p:spPr>
          <a:xfrm>
            <a:off x="5010912" y="1975104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1231.1°C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126480" y="1938528"/>
            <a:ext cx="1152144" cy="713232"/>
          </a:xfrm>
          <a:prstGeom prst="rect">
            <a:avLst/>
          </a:prstGeom>
          <a:solidFill>
            <a:srgbClr val="E8F7F8"/>
          </a:solidFill>
          <a:ln/>
        </p:spPr>
      </p:sp>
      <p:sp>
        <p:nvSpPr>
          <p:cNvPr id="58" name="Shape 56"/>
          <p:cNvSpPr/>
          <p:nvPr/>
        </p:nvSpPr>
        <p:spPr>
          <a:xfrm>
            <a:off x="6126480" y="1938528"/>
            <a:ext cx="54864" cy="71323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9" name="Text 57"/>
          <p:cNvSpPr/>
          <p:nvPr/>
        </p:nvSpPr>
        <p:spPr>
          <a:xfrm>
            <a:off x="6199632" y="1975104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1230.3°C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315200" y="1938528"/>
            <a:ext cx="1152144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1" name="Shape 59"/>
          <p:cNvSpPr/>
          <p:nvPr/>
        </p:nvSpPr>
        <p:spPr>
          <a:xfrm>
            <a:off x="7315200" y="1938528"/>
            <a:ext cx="54864" cy="71323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62" name="Text 60"/>
          <p:cNvSpPr/>
          <p:nvPr/>
        </p:nvSpPr>
        <p:spPr>
          <a:xfrm>
            <a:off x="7388352" y="1975104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503920" y="1938528"/>
            <a:ext cx="1335024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4" name="Shape 62"/>
          <p:cNvSpPr/>
          <p:nvPr/>
        </p:nvSpPr>
        <p:spPr>
          <a:xfrm>
            <a:off x="8503920" y="1938528"/>
            <a:ext cx="54864" cy="71323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65" name="Text 63"/>
          <p:cNvSpPr/>
          <p:nvPr/>
        </p:nvSpPr>
        <p:spPr>
          <a:xfrm>
            <a:off x="8577072" y="1975104"/>
            <a:ext cx="1243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~753 NM3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875520" y="1938528"/>
            <a:ext cx="1060704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7" name="Shape 65"/>
          <p:cNvSpPr/>
          <p:nvPr/>
        </p:nvSpPr>
        <p:spPr>
          <a:xfrm>
            <a:off x="9875520" y="1938528"/>
            <a:ext cx="54864" cy="71323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68" name="Text 66"/>
          <p:cNvSpPr/>
          <p:nvPr/>
        </p:nvSpPr>
        <p:spPr>
          <a:xfrm>
            <a:off x="9948672" y="1975104"/>
            <a:ext cx="969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43660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underheating, +19°C over-firing → M2 saves fuel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4320" y="2706624"/>
            <a:ext cx="2249424" cy="713232"/>
          </a:xfrm>
          <a:prstGeom prst="rect">
            <a:avLst/>
          </a:prstGeom>
          <a:solidFill>
            <a:srgbClr val="F0F6FF"/>
          </a:solidFill>
          <a:ln/>
        </p:spPr>
      </p:sp>
      <p:sp>
        <p:nvSpPr>
          <p:cNvPr id="71" name="Shape 69"/>
          <p:cNvSpPr/>
          <p:nvPr/>
        </p:nvSpPr>
        <p:spPr>
          <a:xfrm>
            <a:off x="274320" y="2706624"/>
            <a:ext cx="54864" cy="713232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72" name="Text 70"/>
          <p:cNvSpPr/>
          <p:nvPr/>
        </p:nvSpPr>
        <p:spPr>
          <a:xfrm>
            <a:off x="347472" y="274320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 20260014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96sl · 18gr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560320" y="2706624"/>
            <a:ext cx="1152144" cy="713232"/>
          </a:xfrm>
          <a:prstGeom prst="rect">
            <a:avLst/>
          </a:prstGeom>
          <a:solidFill>
            <a:srgbClr val="F0F6FF"/>
          </a:solidFill>
          <a:ln/>
        </p:spPr>
      </p:sp>
      <p:sp>
        <p:nvSpPr>
          <p:cNvPr id="74" name="Shape 72"/>
          <p:cNvSpPr/>
          <p:nvPr/>
        </p:nvSpPr>
        <p:spPr>
          <a:xfrm>
            <a:off x="2560320" y="2706624"/>
            <a:ext cx="54864" cy="713232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75" name="Text 73"/>
          <p:cNvSpPr/>
          <p:nvPr/>
        </p:nvSpPr>
        <p:spPr>
          <a:xfrm>
            <a:off x="2633472" y="2743200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1231.8°C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749040" y="2706624"/>
            <a:ext cx="1152144" cy="713232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749040" y="2706624"/>
            <a:ext cx="54864" cy="713232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78" name="Text 76"/>
          <p:cNvSpPr/>
          <p:nvPr/>
        </p:nvSpPr>
        <p:spPr>
          <a:xfrm>
            <a:off x="3822192" y="2743200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1240.2°C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937760" y="2706624"/>
            <a:ext cx="1152144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80" name="Shape 78"/>
          <p:cNvSpPr/>
          <p:nvPr/>
        </p:nvSpPr>
        <p:spPr>
          <a:xfrm>
            <a:off x="4937760" y="2706624"/>
            <a:ext cx="54864" cy="713232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81" name="Text 79"/>
          <p:cNvSpPr/>
          <p:nvPr/>
        </p:nvSpPr>
        <p:spPr>
          <a:xfrm>
            <a:off x="5010912" y="2743200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1232.1°C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126480" y="2706624"/>
            <a:ext cx="1152144" cy="713232"/>
          </a:xfrm>
          <a:prstGeom prst="rect">
            <a:avLst/>
          </a:prstGeom>
          <a:solidFill>
            <a:srgbClr val="E8F7F8"/>
          </a:solidFill>
          <a:ln/>
        </p:spPr>
      </p:sp>
      <p:sp>
        <p:nvSpPr>
          <p:cNvPr id="83" name="Shape 81"/>
          <p:cNvSpPr/>
          <p:nvPr/>
        </p:nvSpPr>
        <p:spPr>
          <a:xfrm>
            <a:off x="6126480" y="2706624"/>
            <a:ext cx="54864" cy="713232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84" name="Text 82"/>
          <p:cNvSpPr/>
          <p:nvPr/>
        </p:nvSpPr>
        <p:spPr>
          <a:xfrm>
            <a:off x="6199632" y="2743200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1231.5°C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7315200" y="2706624"/>
            <a:ext cx="1152144" cy="713232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86" name="Shape 84"/>
          <p:cNvSpPr/>
          <p:nvPr/>
        </p:nvSpPr>
        <p:spPr>
          <a:xfrm>
            <a:off x="7315200" y="2706624"/>
            <a:ext cx="54864" cy="713232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87" name="Text 85"/>
          <p:cNvSpPr/>
          <p:nvPr/>
        </p:nvSpPr>
        <p:spPr>
          <a:xfrm>
            <a:off x="7388352" y="2743200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8503920" y="2706624"/>
            <a:ext cx="1335024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89" name="Shape 87"/>
          <p:cNvSpPr/>
          <p:nvPr/>
        </p:nvSpPr>
        <p:spPr>
          <a:xfrm>
            <a:off x="8503920" y="2706624"/>
            <a:ext cx="54864" cy="713232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90" name="Text 88"/>
          <p:cNvSpPr/>
          <p:nvPr/>
        </p:nvSpPr>
        <p:spPr>
          <a:xfrm>
            <a:off x="8577072" y="2743200"/>
            <a:ext cx="1243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 NM3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9875520" y="2706624"/>
            <a:ext cx="1060704" cy="713232"/>
          </a:xfrm>
          <a:prstGeom prst="rect">
            <a:avLst/>
          </a:prstGeom>
          <a:solidFill>
            <a:srgbClr val="E8F7F8"/>
          </a:solidFill>
          <a:ln/>
        </p:spPr>
      </p:sp>
      <p:sp>
        <p:nvSpPr>
          <p:cNvPr id="92" name="Shape 90"/>
          <p:cNvSpPr/>
          <p:nvPr/>
        </p:nvSpPr>
        <p:spPr>
          <a:xfrm>
            <a:off x="9875520" y="2706624"/>
            <a:ext cx="54864" cy="713232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93" name="Text 91"/>
          <p:cNvSpPr/>
          <p:nvPr/>
        </p:nvSpPr>
        <p:spPr>
          <a:xfrm>
            <a:off x="9948672" y="2743200"/>
            <a:ext cx="969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9436608" y="28529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below recipe, wide RT spread → M3 RT-weighted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74320" y="3474720"/>
            <a:ext cx="2249424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Shape 94"/>
          <p:cNvSpPr/>
          <p:nvPr/>
        </p:nvSpPr>
        <p:spPr>
          <a:xfrm>
            <a:off x="274320" y="3474720"/>
            <a:ext cx="54864" cy="7132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97" name="Text 95"/>
          <p:cNvSpPr/>
          <p:nvPr/>
        </p:nvSpPr>
        <p:spPr>
          <a:xfrm>
            <a:off x="347472" y="3511296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 20260018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101sl · 16gr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2560320" y="3474720"/>
            <a:ext cx="1152144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Shape 97"/>
          <p:cNvSpPr/>
          <p:nvPr/>
        </p:nvSpPr>
        <p:spPr>
          <a:xfrm>
            <a:off x="2560320" y="3474720"/>
            <a:ext cx="54864" cy="7132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00" name="Text 98"/>
          <p:cNvSpPr/>
          <p:nvPr/>
        </p:nvSpPr>
        <p:spPr>
          <a:xfrm>
            <a:off x="2633472" y="3511296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1250.0°C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3749040" y="3474720"/>
            <a:ext cx="1152144" cy="713232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749040" y="3474720"/>
            <a:ext cx="54864" cy="7132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03" name="Text 101"/>
          <p:cNvSpPr/>
          <p:nvPr/>
        </p:nvSpPr>
        <p:spPr>
          <a:xfrm>
            <a:off x="3822192" y="3511296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1240.2°C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4937760" y="3474720"/>
            <a:ext cx="1152144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05" name="Shape 103"/>
          <p:cNvSpPr/>
          <p:nvPr/>
        </p:nvSpPr>
        <p:spPr>
          <a:xfrm>
            <a:off x="4937760" y="3474720"/>
            <a:ext cx="54864" cy="7132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06" name="Text 104"/>
          <p:cNvSpPr/>
          <p:nvPr/>
        </p:nvSpPr>
        <p:spPr>
          <a:xfrm>
            <a:off x="5010912" y="3511296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1236.6°C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6126480" y="3474720"/>
            <a:ext cx="1152144" cy="713232"/>
          </a:xfrm>
          <a:prstGeom prst="rect">
            <a:avLst/>
          </a:prstGeom>
          <a:solidFill>
            <a:srgbClr val="E8F7F8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126480" y="3474720"/>
            <a:ext cx="54864" cy="7132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09" name="Text 107"/>
          <p:cNvSpPr/>
          <p:nvPr/>
        </p:nvSpPr>
        <p:spPr>
          <a:xfrm>
            <a:off x="6199632" y="3511296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1235.5°C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7315200" y="3474720"/>
            <a:ext cx="1152144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315200" y="3474720"/>
            <a:ext cx="54864" cy="7132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12" name="Text 110"/>
          <p:cNvSpPr/>
          <p:nvPr/>
        </p:nvSpPr>
        <p:spPr>
          <a:xfrm>
            <a:off x="7388352" y="3511296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8503920" y="3474720"/>
            <a:ext cx="1335024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503920" y="3474720"/>
            <a:ext cx="54864" cy="7132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15" name="Text 113"/>
          <p:cNvSpPr/>
          <p:nvPr/>
        </p:nvSpPr>
        <p:spPr>
          <a:xfrm>
            <a:off x="8577072" y="3511296"/>
            <a:ext cx="1243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~459 NM3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9875520" y="3474720"/>
            <a:ext cx="1060704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875520" y="3474720"/>
            <a:ext cx="54864" cy="71323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118" name="Text 116"/>
          <p:cNvSpPr/>
          <p:nvPr/>
        </p:nvSpPr>
        <p:spPr>
          <a:xfrm>
            <a:off x="9948672" y="3511296"/>
            <a:ext cx="969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9436608" y="362102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underheating, heavy high-T grades → M2 balanced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274320" y="4261104"/>
            <a:ext cx="11612880" cy="2743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1" name="Text 119"/>
          <p:cNvSpPr/>
          <p:nvPr/>
        </p:nvSpPr>
        <p:spPr>
          <a:xfrm>
            <a:off x="365760" y="427939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Below Recipe = slabs whose FCE dropout fell below their recipe target (quality risk indicator)  ·  Gas Save = estimated NM3/HR saving by using M2 vs M1 (at 53.4 NM3 per °C sensitivity)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274320" y="4590288"/>
            <a:ext cx="1161288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365760" y="4626864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 Comparison Across Schedules</a:t>
            </a:r>
            <a:endParaRPr lang="en-US" sz="1100" dirty="0"/>
          </a:p>
        </p:txBody>
      </p:sp>
      <p:graphicFrame>
        <p:nvGraphicFramePr>
          <p:cNvPr id="124" name="Chart 0" descr=""/>
          <p:cNvGraphicFramePr/>
          <p:nvPr/>
        </p:nvGraphicFramePr>
        <p:xfrm>
          <a:off x="320040" y="4901184"/>
          <a:ext cx="11521440" cy="16642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SETPOINT PROFILES — All Models · Schedule 20260018 (Recommended M2)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640080"/>
          <a:ext cx="731520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640080"/>
            <a:ext cx="4114800" cy="5029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0" y="640080"/>
            <a:ext cx="4114800" cy="38404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6949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Setpoints (°C)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078992"/>
          <a:ext cx="4005072" cy="4407408"/>
        </p:xfrm>
        <a:graphic>
          <a:graphicData uri="http://schemas.openxmlformats.org/drawingml/2006/table">
            <a:tbl>
              <a:tblPr/>
              <a:tblGrid>
                <a:gridCol w="566928"/>
                <a:gridCol w="1097280"/>
                <a:gridCol w="822960"/>
                <a:gridCol w="822960"/>
                <a:gridCol w="78638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Zone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980B9"/>
                          </a:solidFill>
                        </a:rPr>
                        <a:t>Z1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B9A"/>
                          </a:solidFill>
                        </a:rPr>
                        <a:t>Preheat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1246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1243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7E8C"/>
                          </a:solidFill>
                        </a:rPr>
                        <a:t>1241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EA8"/>
                          </a:solidFill>
                        </a:rPr>
                        <a:t>Z2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B9A"/>
                          </a:solidFill>
                        </a:rPr>
                        <a:t>Preheat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1243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1240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7E8C"/>
                          </a:solidFill>
                        </a:rPr>
                        <a:t>1239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Z3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B9A"/>
                          </a:solidFill>
                        </a:rPr>
                        <a:t>Soaking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1318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1314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7E8C"/>
                          </a:solidFill>
                        </a:rPr>
                        <a:t>1313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2B21"/>
                          </a:solidFill>
                        </a:rPr>
                        <a:t>Z4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B9A"/>
                          </a:solidFill>
                        </a:rPr>
                        <a:t>Soaking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1311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1308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7E8C"/>
                          </a:solidFill>
                        </a:rPr>
                        <a:t>1306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</a:rPr>
                        <a:t>Z5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B9A"/>
                          </a:solidFill>
                        </a:rPr>
                        <a:t>Heating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1258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1254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7E8C"/>
                          </a:solidFill>
                        </a:rPr>
                        <a:t>1253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5400"/>
                          </a:solidFill>
                        </a:rPr>
                        <a:t>Z6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B9A"/>
                          </a:solidFill>
                        </a:rPr>
                        <a:t>Heating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1254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1251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7E8C"/>
                          </a:solidFill>
                        </a:rPr>
                        <a:t>1250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5400"/>
                          </a:solidFill>
                        </a:rPr>
                        <a:t>Z7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B9A"/>
                          </a:solidFill>
                        </a:rPr>
                        <a:t>Heating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1257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1253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7E8C"/>
                          </a:solidFill>
                        </a:rPr>
                        <a:t>1252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7E8C"/>
                          </a:solidFill>
                        </a:rPr>
                        <a:t>Z8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B9A"/>
                          </a:solidFill>
                        </a:rPr>
                        <a:t>Equalising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1248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1244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7E8C"/>
                          </a:solidFill>
                        </a:rPr>
                        <a:t>1243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FCE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B9A"/>
                          </a:solidFill>
                        </a:rPr>
                        <a:t>Slab exit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</a:rPr>
                        <a:t>1250.0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</a:rPr>
                        <a:t>1250.0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</a:rPr>
                        <a:t>1250.0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5742432"/>
            <a:ext cx="11612880" cy="896112"/>
          </a:xfrm>
          <a:prstGeom prst="rect">
            <a:avLst/>
          </a:prstGeom>
          <a:solidFill>
            <a:srgbClr val="FFF9E6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74320" y="5742432"/>
            <a:ext cx="91440" cy="8961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7"/>
          <p:cNvSpPr/>
          <p:nvPr/>
        </p:nvSpPr>
        <p:spPr>
          <a:xfrm>
            <a:off x="438912" y="5760720"/>
            <a:ext cx="11338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Z8 vs FCE: Z8 setpoints (M1=1247.8°C, M2=1244.2°C, M3=1243.1°C) are all BELOW the actual FCE dropout (1250°C). This is CORRECT. The slab carries heat from soaking zones Z3/Z4 (which operate at 1317–1317°C) through the equalising zone. Z8 equalises top-bottom temperature difference — it does not need to be hotter than the slab surface. FCE dropout is the OUTPUT of all 8 zones working together, not just Z8.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11960352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MATRIX — Which Model for Which Schedule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real Hazira schedules and production conditions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2920" cy="50292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1024128"/>
            <a:ext cx="4572000" cy="621792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15568" y="1115568"/>
            <a:ext cx="44439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Slabs Below Recipe &gt; 10%?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1024128"/>
            <a:ext cx="182880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102412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USE M1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1024128"/>
            <a:ext cx="2286000" cy="621792"/>
          </a:xfrm>
          <a:prstGeom prst="rect">
            <a:avLst/>
          </a:prstGeom>
          <a:solidFill>
            <a:srgbClr val="12223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102412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Check next 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1645920"/>
            <a:ext cx="0" cy="146304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883664"/>
            <a:ext cx="502920" cy="50292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883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51560" y="1792224"/>
            <a:ext cx="4572000" cy="621792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15568" y="1883664"/>
            <a:ext cx="44439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Spread &gt; 18°C?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06440" y="1792224"/>
            <a:ext cx="182880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179222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USE M1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1792224"/>
            <a:ext cx="2286000" cy="621792"/>
          </a:xfrm>
          <a:prstGeom prst="rect">
            <a:avLst/>
          </a:prstGeom>
          <a:solidFill>
            <a:srgbClr val="12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1792224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Check next 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" y="2414016"/>
            <a:ext cx="0" cy="146304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51560" y="2560320"/>
            <a:ext cx="4572000" cy="621792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115568" y="2651760"/>
            <a:ext cx="44439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 Time Spread &gt; 40 min?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06440" y="2560320"/>
            <a:ext cx="1828800" cy="62179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9" name="Text 27"/>
          <p:cNvSpPr/>
          <p:nvPr/>
        </p:nvSpPr>
        <p:spPr>
          <a:xfrm>
            <a:off x="5806440" y="256032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USE M3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2560320"/>
            <a:ext cx="2286000" cy="621792"/>
          </a:xfrm>
          <a:prstGeom prst="rect">
            <a:avLst/>
          </a:prstGeom>
          <a:solidFill>
            <a:srgbClr val="122233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256032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Check next →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3232" y="3182112"/>
            <a:ext cx="0" cy="146304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419856"/>
            <a:ext cx="502920" cy="50292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4198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51560" y="3328416"/>
            <a:ext cx="4572000" cy="621792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115568" y="3419856"/>
            <a:ext cx="44439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grade or API/quality-critical?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806440" y="3328416"/>
            <a:ext cx="182880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5806440" y="33284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USE M1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72400" y="3328416"/>
            <a:ext cx="2286000" cy="621792"/>
          </a:xfrm>
          <a:prstGeom prst="rect">
            <a:avLst/>
          </a:prstGeom>
          <a:solidFill>
            <a:srgbClr val="122233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0" y="332841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Check next 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3232" y="3950208"/>
            <a:ext cx="0" cy="146304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187952"/>
            <a:ext cx="502920" cy="50292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51560" y="4096512"/>
            <a:ext cx="4572000" cy="621792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115568" y="4187952"/>
            <a:ext cx="44439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routinely +12°C over recipe?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806440" y="4096512"/>
            <a:ext cx="1828800" cy="6217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47" name="Text 45"/>
          <p:cNvSpPr/>
          <p:nvPr/>
        </p:nvSpPr>
        <p:spPr>
          <a:xfrm>
            <a:off x="5806440" y="409651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USE M2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772400" y="4096512"/>
            <a:ext cx="2286000" cy="621792"/>
          </a:xfrm>
          <a:prstGeom prst="rect">
            <a:avLst/>
          </a:prstGeom>
          <a:solidFill>
            <a:srgbClr val="122233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0" y="409651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USE M2 (default)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195560" y="1024128"/>
            <a:ext cx="1737360" cy="3840480"/>
          </a:xfrm>
          <a:prstGeom prst="rect">
            <a:avLst/>
          </a:prstGeom>
          <a:solidFill>
            <a:srgbClr val="12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195560" y="1024128"/>
            <a:ext cx="1737360" cy="32918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52" name="Text 50"/>
          <p:cNvSpPr/>
          <p:nvPr/>
        </p:nvSpPr>
        <p:spPr>
          <a:xfrm>
            <a:off x="10195560" y="10607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241280" y="1426464"/>
            <a:ext cx="164592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4" name="Text 52"/>
          <p:cNvSpPr/>
          <p:nvPr/>
        </p:nvSpPr>
        <p:spPr>
          <a:xfrm>
            <a:off x="10241280" y="142646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S19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0241280" y="2194560"/>
            <a:ext cx="1645920" cy="65836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6" name="Text 54"/>
          <p:cNvSpPr/>
          <p:nvPr/>
        </p:nvSpPr>
        <p:spPr>
          <a:xfrm>
            <a:off x="10241280" y="219456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241280" y="2962656"/>
            <a:ext cx="1645920" cy="65836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58" name="Text 56"/>
          <p:cNvSpPr/>
          <p:nvPr/>
        </p:nvSpPr>
        <p:spPr>
          <a:xfrm>
            <a:off x="10241280" y="2962656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241280" y="3730752"/>
            <a:ext cx="1645920" cy="65836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60" name="Text 58"/>
          <p:cNvSpPr/>
          <p:nvPr/>
        </p:nvSpPr>
        <p:spPr>
          <a:xfrm>
            <a:off x="10241280" y="373075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" y="4956048"/>
            <a:ext cx="11247120" cy="166420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57200" y="4956048"/>
            <a:ext cx="11247120" cy="47548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63" name="Text 61"/>
          <p:cNvSpPr/>
          <p:nvPr/>
        </p:nvSpPr>
        <p:spPr>
          <a:xfrm>
            <a:off x="548640" y="500176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INTERACTIVE HTML PROTOTYPE — RHF_Setpoint_Optimizer.html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94360" y="5486400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Schedule Tab: Select any of the 4 real schedules → see grade mix, model setpoints, zone profile chart, and recommendation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94360" y="5742432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Simulator Tab: Drag sliders for each grade count → live model recalculation, zone chart, and auto-recommendation logic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94360" y="5998464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Model Logic Tab: Full explanation of M1/M2/M3 + corrected Z8 physics explanation + zone offset heatmap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94360" y="6254496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Zone Profile Tab: Select schedule + model overlay → zone temperature chart + complete setpoint table with Z8 vs FCE comparison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2026-04-01T17:22:22Z</dcterms:created>
  <dcterms:modified xsi:type="dcterms:W3CDTF">2026-04-01T17:22:22Z</dcterms:modified>
</cp:coreProperties>
</file>